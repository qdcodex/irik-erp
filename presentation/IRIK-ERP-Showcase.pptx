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efd7c88-59a0-75d4-832a-e4d8400c0bd7}">
          <p14:sldIdLst>
            <p14:sldId id="256"/>
            <p14:sldId id="257"/>
            <p14:sldId id="258"/>
          </p14:sldIdLst>
        </p14:section>
        <p14:section name="For Management" id="{e5e509b5-6a23-c635-b4dd-d30add52004c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Academics &amp; Flight Ops" id="{aaec005f-8445-afc3-d64a-d6c36b954d1a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ampus Operations" id="{1091f10e-6368-361b-4bae-7c2d856abe14}">
          <p14:sldIdLst>
            <p14:sldId id="271"/>
          </p14:sldIdLst>
        </p14:section>
        <p14:section name="Role Portals" id="{9e90bb87-0b43-e46e-1843-924f5a01435a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Next Steps" id="{a3328896-31b2-e1b2-4980-1fa964d3ccbd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we'll walk through the IRIK Aviation ERP — a single web application that replaces registers, spreadsheets and scattered WhatsApp updates. Everything you'll see is a live screenshot of the working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everyday pain points most institutes have. On the right is what each one becomes in the ERP. We'll see each of these screens in 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23 modules and 5 portals in one system. Nothing to install — staff use a browser, students and parents can use their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what the owner and management team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screen the owner sees after login. Four numbers tell you the health of the institute; below is today's flying and lecture schedule and the latest applications waiting for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Finance and ledger: tuition and simulator income on one side, fuel, aircraft maintenance and payroll on the other. Every rupee has a category and department.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 management. Each cadet's invoices, what is collected and what is pending. Online payment through Razorpay and UPI is built in — it activates once the institute's Razorpay merchant account is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and payroll: the monthly salary run for instructors and staff, what has been released and what is pending, plus leave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Security. Management decides exactly what each role can do — for example the gate officer only sees visitor management, the accountant only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the academic and flight-operations side used every day by the dean, instructors and office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Admissions: every enquiry is tracked until enrolment. The system checks DGCA eligibility — Physics and Maths in 10+2 and the medical class — so counsellors don't miss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timetable is the heart of flight operations. Left: the weekly matrix — the system warns if a simulator, room or instructor is double-booked. Right: utilisation, showing how many hours each simulator and instructor is actually used. Schedules can be exported or broadcast to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Attendance. Instructors mark roll call in seconds. The system tracks the DGCA 75% requirement and flags cadets who are slipping, long before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Fleet and compliance. Every aircraft and simulator, its flying hours, when maintenance is next due and its airworthiness status — ready for a DGCA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content lives in the LMS, and students rate their instructors — giving management objective data on teaching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academics, the everyday campus services are included: security gate, ID cards, a complaint helpdesk, digital signatures for consent forms, hostel, library and alumni 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person logs in to their own portal. Let's look at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 staff get a focused portal: attendance, announcements, facilities and documents, and a fee-collection view that shows who has paid and who hasn't. They don't see payroll or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Instructors see only their own day: which batch, which simulator, and a button to mark attendance. They also see their own student ratings.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see their classes, attendance percentage against the DGCA rule, fee dues with online payment, study material, and a digital ID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system adapts to the phone. It can be installed to the home screen, keeps working when the network drops, and is designed for touch — so cadets and parents don't need a separate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Parents log in to see exactly what the office would tell them on the phone: dues and receipts, attendance and their child's progress. This alone saves the office many calls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suggest going live in three phases so staff adopt it gradually — the office modules first, then academics and portals, then finance and operations. To go live we need hosting, the Razorpay account for online fees, an SMS/email provider for alerts, the existing data to import, and a short training for each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 or open any module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7DD3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IRIK Aviation ERP  ·  Product Showcase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image" Target="../media/image-16-7.jpg"/><Relationship Id="rId8" Type="http://schemas.openxmlformats.org/officeDocument/2006/relationships/image" Target="../media/image-16-8.jp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IRIK Aviation ERP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One platform to run admissions, flight training, fees, staff and compliance — for every person on campus</a:t>
            </a:r>
            <a:endParaRPr lang="en-US" sz="1800" dirty="0"/>
          </a:p>
        </p:txBody>
      </p:sp>
      <p:sp>
        <p:nvSpPr>
          <p:cNvPr id="4" name="kicker"/>
          <p:cNvSpPr txBox="1"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PRODUCT SHOWCASE  ·  FOR MANAGEMENT &amp; STAFF</a:t>
            </a:r>
            <a:endParaRPr lang="en-US" sz="1300" dirty="0"/>
          </a:p>
        </p:txBody>
      </p:sp>
      <p:sp>
        <p:nvSpPr>
          <p:cNvPr id="5" name="Login screen frame"/>
          <p:cNvSpPr/>
          <p:nvPr/>
        </p:nvSpPr>
        <p:spPr>
          <a:xfrm>
            <a:off x="6629400" y="1417320"/>
            <a:ext cx="5029200" cy="3371850"/>
          </a:xfrm>
          <a:prstGeom prst="roundRect">
            <a:avLst>
              <a:gd name="adj" fmla="val 216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6" name="Login screen dot 1"/>
          <p:cNvSpPr/>
          <p:nvPr/>
        </p:nvSpPr>
        <p:spPr>
          <a:xfrm>
            <a:off x="6757416" y="149047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Login screen dot 2"/>
          <p:cNvSpPr/>
          <p:nvPr/>
        </p:nvSpPr>
        <p:spPr>
          <a:xfrm>
            <a:off x="6912864" y="149047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Login screen dot 3"/>
          <p:cNvSpPr/>
          <p:nvPr/>
        </p:nvSpPr>
        <p:spPr>
          <a:xfrm>
            <a:off x="7068312" y="149047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9" name="Login screen screenshot" descr="Login scree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976" y="1655064"/>
            <a:ext cx="4956048" cy="3097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scattered registers to one live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75569"/>
                </a:solidFill>
              </a:rPr>
              <a:t>TYPICAL TODAY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801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WITH IRIK ERP</a:t>
            </a:r>
            <a:endParaRPr lang="en-US" sz="1300" dirty="0"/>
          </a:p>
        </p:txBody>
      </p:sp>
      <p:sp>
        <p:nvSpPr>
          <p:cNvPr id="5" name="before 1"/>
          <p:cNvSpPr/>
          <p:nvPr/>
        </p:nvSpPr>
        <p:spPr>
          <a:xfrm>
            <a:off x="548640" y="1737360"/>
            <a:ext cx="5257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Attendance on paper registers</a:t>
            </a:r>
            <a:endParaRPr lang="en-US" sz="1600" dirty="0"/>
          </a:p>
        </p:txBody>
      </p:sp>
      <p:pic>
        <p:nvPicPr>
          <p:cNvPr id="7" name="arrow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956816"/>
            <a:ext cx="292608" cy="292608"/>
          </a:xfrm>
          <a:prstGeom prst="rect">
            <a:avLst/>
          </a:prstGeom>
        </p:spPr>
      </p:pic>
      <p:sp>
        <p:nvSpPr>
          <p:cNvPr id="8" name="after 1"/>
          <p:cNvSpPr/>
          <p:nvPr/>
        </p:nvSpPr>
        <p:spPr>
          <a:xfrm>
            <a:off x="6400800" y="17373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9" name="after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9385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Digital roll call that flags anyone below the 75% DGCA threshold</a:t>
            </a:r>
            <a:endParaRPr lang="en-US" sz="1500" dirty="0"/>
          </a:p>
        </p:txBody>
      </p:sp>
      <p:sp>
        <p:nvSpPr>
          <p:cNvPr id="11" name="before 2"/>
          <p:cNvSpPr/>
          <p:nvPr/>
        </p:nvSpPr>
        <p:spPr>
          <a:xfrm>
            <a:off x="548640" y="2651760"/>
            <a:ext cx="5257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2651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Fee dues tracked in spreadsheets</a:t>
            </a:r>
            <a:endParaRPr lang="en-US" sz="1600" dirty="0"/>
          </a:p>
        </p:txBody>
      </p:sp>
      <p:pic>
        <p:nvPicPr>
          <p:cNvPr id="13" name="arrow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871216"/>
            <a:ext cx="292608" cy="292608"/>
          </a:xfrm>
          <a:prstGeom prst="rect">
            <a:avLst/>
          </a:prstGeom>
        </p:spPr>
      </p:pic>
      <p:sp>
        <p:nvSpPr>
          <p:cNvPr id="14" name="after 2"/>
          <p:cNvSpPr/>
          <p:nvPr/>
        </p:nvSpPr>
        <p:spPr>
          <a:xfrm>
            <a:off x="6400800" y="26517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after ico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8529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8660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 fee ledger with online payment and instant receipts</a:t>
            </a:r>
            <a:endParaRPr lang="en-US" sz="1500" dirty="0"/>
          </a:p>
        </p:txBody>
      </p:sp>
      <p:sp>
        <p:nvSpPr>
          <p:cNvPr id="17" name="before 3"/>
          <p:cNvSpPr/>
          <p:nvPr/>
        </p:nvSpPr>
        <p:spPr>
          <a:xfrm>
            <a:off x="548640" y="3566160"/>
            <a:ext cx="5257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35661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Schedule changes sent over WhatsApp</a:t>
            </a:r>
            <a:endParaRPr lang="en-US" sz="1600" dirty="0"/>
          </a:p>
        </p:txBody>
      </p:sp>
      <p:pic>
        <p:nvPicPr>
          <p:cNvPr id="19" name="arrow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785616"/>
            <a:ext cx="292608" cy="292608"/>
          </a:xfrm>
          <a:prstGeom prst="rect">
            <a:avLst/>
          </a:prstGeom>
        </p:spPr>
      </p:pic>
      <p:sp>
        <p:nvSpPr>
          <p:cNvPr id="20" name="after 3"/>
          <p:cNvSpPr/>
          <p:nvPr/>
        </p:nvSpPr>
        <p:spPr>
          <a:xfrm>
            <a:off x="6400800" y="35661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after ico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7673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3566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timetable with simulator allocation and clash detection</a:t>
            </a:r>
            <a:endParaRPr lang="en-US" sz="1500" dirty="0"/>
          </a:p>
        </p:txBody>
      </p:sp>
      <p:sp>
        <p:nvSpPr>
          <p:cNvPr id="23" name="before 4"/>
          <p:cNvSpPr/>
          <p:nvPr/>
        </p:nvSpPr>
        <p:spPr>
          <a:xfrm>
            <a:off x="548640" y="4480560"/>
            <a:ext cx="5257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77240" y="4480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Parents calling the office for updates</a:t>
            </a:r>
            <a:endParaRPr lang="en-US" sz="1600" dirty="0"/>
          </a:p>
        </p:txBody>
      </p:sp>
      <p:pic>
        <p:nvPicPr>
          <p:cNvPr id="25" name="arrow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4700016"/>
            <a:ext cx="292608" cy="292608"/>
          </a:xfrm>
          <a:prstGeom prst="rect">
            <a:avLst/>
          </a:prstGeom>
        </p:spPr>
      </p:pic>
      <p:sp>
        <p:nvSpPr>
          <p:cNvPr id="26" name="after 4"/>
          <p:cNvSpPr/>
          <p:nvPr/>
        </p:nvSpPr>
        <p:spPr>
          <a:xfrm>
            <a:off x="6400800" y="44805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7" name="after icon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46817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086600" y="4480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Parent portal showing dues, attendance and progress</a:t>
            </a:r>
            <a:endParaRPr lang="en-US" sz="1500" dirty="0"/>
          </a:p>
        </p:txBody>
      </p:sp>
      <p:sp>
        <p:nvSpPr>
          <p:cNvPr id="29" name="before 5"/>
          <p:cNvSpPr/>
          <p:nvPr/>
        </p:nvSpPr>
        <p:spPr>
          <a:xfrm>
            <a:off x="548640" y="5394960"/>
            <a:ext cx="5257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777240" y="53949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Compliance papers in physical files</a:t>
            </a:r>
            <a:endParaRPr lang="en-US" sz="1600" dirty="0"/>
          </a:p>
        </p:txBody>
      </p:sp>
      <p:pic>
        <p:nvPicPr>
          <p:cNvPr id="31" name="arrow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5614416"/>
            <a:ext cx="292608" cy="292608"/>
          </a:xfrm>
          <a:prstGeom prst="rect">
            <a:avLst/>
          </a:prstGeom>
        </p:spPr>
      </p:pic>
      <p:sp>
        <p:nvSpPr>
          <p:cNvPr id="32" name="after 5"/>
          <p:cNvSpPr/>
          <p:nvPr/>
        </p:nvSpPr>
        <p:spPr>
          <a:xfrm>
            <a:off x="6400800" y="53949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3" name="after icon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5596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086600" y="5394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Signed-document vault and airworthiness tracking with audit trail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whole institute in one application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modules"/>
          <p:cNvSpPr txBox="1"/>
          <p:nvPr/>
        </p:nvSpPr>
        <p:spPr>
          <a:xfrm>
            <a:off x="822960" y="1508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23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modules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Admissions to payroll, fleet to alumni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364992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role portals"/>
          <p:cNvSpPr txBox="1"/>
          <p:nvPr/>
        </p:nvSpPr>
        <p:spPr>
          <a:xfrm>
            <a:off x="3639312" y="1508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5"/>
                </a:solidFill>
              </a:rPr>
              <a:t>5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role portals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Management, staff, instructor, student, parent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181344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login per person"/>
          <p:cNvSpPr txBox="1"/>
          <p:nvPr/>
        </p:nvSpPr>
        <p:spPr>
          <a:xfrm>
            <a:off x="6455664" y="1508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4"/>
                </a:solidFill>
              </a:rPr>
              <a:t>1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login per person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Each role sees only what it needs</a:t>
            </a:r>
            <a:endParaRPr lang="en-US" sz="1400" dirty="0"/>
          </a:p>
        </p:txBody>
      </p:sp>
      <p:sp>
        <p:nvSpPr>
          <p:cNvPr id="15" name="stat card 4"/>
          <p:cNvSpPr/>
          <p:nvPr/>
        </p:nvSpPr>
        <p:spPr>
          <a:xfrm>
            <a:off x="8997696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installs needed"/>
          <p:cNvSpPr txBox="1"/>
          <p:nvPr/>
        </p:nvSpPr>
        <p:spPr>
          <a:xfrm>
            <a:off x="9272016" y="1508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0</a:t>
            </a:r>
            <a:endParaRPr lang="en-US" sz="66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installs needed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Runs in any browser, phone or PC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14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Academics &amp; Flight Ops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Admissions CRM · Students · Timetable &amp; Flights · Attendance · Courses · Enrollments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114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Finance &amp; People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4348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Fee Management · Finance &amp; Ledger · HR &amp; Payroll · Faculty Directory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20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Operations &amp; Compliance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Fleet &amp; Compliance · Visitor &amp; Gate Pass · Hostel · Roles &amp; Permissions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5120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Learning &amp; Services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5440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E-Learning / LMS · Instructor Ratings · ID Cards · Feedback · E-Sign · Library · Alumni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For the owner &amp; management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DD3FC"/>
                </a:solidFill>
              </a:rPr>
              <a:t>Live dashboard · Finance &amp; ledger · Fees · HR &amp; payroll · Roles &amp; permissions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Main dashboard: the institute on one screen</a:t>
            </a:r>
            <a:endParaRPr lang="en-US" sz="3200" dirty="0"/>
          </a:p>
        </p:txBody>
      </p:sp>
      <p:sp>
        <p:nvSpPr>
          <p:cNvPr id="3" name="Main dashboard frame"/>
          <p:cNvSpPr/>
          <p:nvPr/>
        </p:nvSpPr>
        <p:spPr>
          <a:xfrm>
            <a:off x="548640" y="1280160"/>
            <a:ext cx="7498080" cy="4914900"/>
          </a:xfrm>
          <a:prstGeom prst="roundRect">
            <a:avLst>
              <a:gd name="adj" fmla="val 14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Main dashboard dot 1"/>
          <p:cNvSpPr/>
          <p:nvPr/>
        </p:nvSpPr>
        <p:spPr>
          <a:xfrm>
            <a:off x="676656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Main dashboard dot 2"/>
          <p:cNvSpPr/>
          <p:nvPr/>
        </p:nvSpPr>
        <p:spPr>
          <a:xfrm>
            <a:off x="832104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Main dashboard dot 3"/>
          <p:cNvSpPr/>
          <p:nvPr/>
        </p:nvSpPr>
        <p:spPr>
          <a:xfrm>
            <a:off x="987552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Main dashboard screenshot" descr="Main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7904"/>
            <a:ext cx="7424928" cy="4640580"/>
          </a:xfrm>
          <a:prstGeom prst="rect">
            <a:avLst/>
          </a:prstGeom>
        </p:spPr>
      </p:pic>
      <p:sp>
        <p:nvSpPr>
          <p:cNvPr id="8" name="Four live KPIs icon circle"/>
          <p:cNvSpPr/>
          <p:nvPr/>
        </p:nvSpPr>
        <p:spPr>
          <a:xfrm>
            <a:off x="845820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Four live KPI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1709928"/>
            <a:ext cx="237744" cy="237744"/>
          </a:xfrm>
          <a:prstGeom prst="rect">
            <a:avLst/>
          </a:prstGeom>
        </p:spPr>
      </p:pic>
      <p:sp>
        <p:nvSpPr>
          <p:cNvPr id="10" name="Four live KPIs heading"/>
          <p:cNvSpPr txBox="1"/>
          <p:nvPr/>
        </p:nvSpPr>
        <p:spPr>
          <a:xfrm>
            <a:off x="9098280" y="15819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Four live KPIs</a:t>
            </a:r>
            <a:endParaRPr lang="en-US" sz="1700" dirty="0"/>
          </a:p>
        </p:txBody>
      </p:sp>
      <p:sp>
        <p:nvSpPr>
          <p:cNvPr id="11" name="Four live KPIs text"/>
          <p:cNvSpPr txBox="1"/>
          <p:nvPr/>
        </p:nvSpPr>
        <p:spPr>
          <a:xfrm>
            <a:off x="9098280" y="19476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Enrolled cadets, weekly flight slots, admissions pipeline and fee collection</a:t>
            </a:r>
            <a:endParaRPr lang="en-US" sz="1400" dirty="0"/>
          </a:p>
        </p:txBody>
      </p:sp>
      <p:sp>
        <p:nvSpPr>
          <p:cNvPr id="12" name="Today's schedule icon circle"/>
          <p:cNvSpPr/>
          <p:nvPr/>
        </p:nvSpPr>
        <p:spPr>
          <a:xfrm>
            <a:off x="8458200" y="29535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Today's schedul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3063240"/>
            <a:ext cx="237744" cy="237744"/>
          </a:xfrm>
          <a:prstGeom prst="rect">
            <a:avLst/>
          </a:prstGeom>
        </p:spPr>
      </p:pic>
      <p:sp>
        <p:nvSpPr>
          <p:cNvPr id="14" name="Today&amp;apos;s schedule heading"/>
          <p:cNvSpPr txBox="1"/>
          <p:nvPr/>
        </p:nvSpPr>
        <p:spPr>
          <a:xfrm>
            <a:off x="9098280" y="2935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Today's schedule</a:t>
            </a:r>
            <a:endParaRPr lang="en-US" sz="1700" dirty="0"/>
          </a:p>
        </p:txBody>
      </p:sp>
      <p:sp>
        <p:nvSpPr>
          <p:cNvPr id="15" name="Today&amp;apos;s schedule text"/>
          <p:cNvSpPr txBox="1"/>
          <p:nvPr/>
        </p:nvSpPr>
        <p:spPr>
          <a:xfrm>
            <a:off x="9098280" y="33009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Every ground lecture and simulator session with its instructor</a:t>
            </a:r>
            <a:endParaRPr lang="en-US" sz="1400" dirty="0"/>
          </a:p>
        </p:txBody>
      </p:sp>
      <p:sp>
        <p:nvSpPr>
          <p:cNvPr id="16" name="Admissions at a glance icon circle"/>
          <p:cNvSpPr/>
          <p:nvPr/>
        </p:nvSpPr>
        <p:spPr>
          <a:xfrm>
            <a:off x="8458200" y="430682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Admissions at a glanc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4416552"/>
            <a:ext cx="237744" cy="237744"/>
          </a:xfrm>
          <a:prstGeom prst="rect">
            <a:avLst/>
          </a:prstGeom>
        </p:spPr>
      </p:pic>
      <p:sp>
        <p:nvSpPr>
          <p:cNvPr id="18" name="Admissions at a glance heading"/>
          <p:cNvSpPr txBox="1"/>
          <p:nvPr/>
        </p:nvSpPr>
        <p:spPr>
          <a:xfrm>
            <a:off x="9098280" y="42885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Admissions at a glance</a:t>
            </a:r>
            <a:endParaRPr lang="en-US" sz="1700" dirty="0"/>
          </a:p>
        </p:txBody>
      </p:sp>
      <p:sp>
        <p:nvSpPr>
          <p:cNvPr id="19" name="Admissions at a glance text"/>
          <p:cNvSpPr txBox="1"/>
          <p:nvPr/>
        </p:nvSpPr>
        <p:spPr>
          <a:xfrm>
            <a:off x="9098280" y="46542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Recent applicants with merit score and medical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Finance &amp; ledger: income, expenses and surplus</a:t>
            </a:r>
            <a:endParaRPr lang="en-US" sz="3200" dirty="0"/>
          </a:p>
        </p:txBody>
      </p:sp>
      <p:sp>
        <p:nvSpPr>
          <p:cNvPr id="3" name="Finance &amp; ledger: income, expenses and surplus frame"/>
          <p:cNvSpPr/>
          <p:nvPr/>
        </p:nvSpPr>
        <p:spPr>
          <a:xfrm>
            <a:off x="548640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Finance &amp; ledger: income, expenses and surplus dot 1"/>
          <p:cNvSpPr/>
          <p:nvPr/>
        </p:nvSpPr>
        <p:spPr>
          <a:xfrm>
            <a:off x="676656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Finance &amp; ledger: income, expenses and surplus dot 2"/>
          <p:cNvSpPr/>
          <p:nvPr/>
        </p:nvSpPr>
        <p:spPr>
          <a:xfrm>
            <a:off x="832104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Finance &amp; ledger: income, expenses and surplus dot 3"/>
          <p:cNvSpPr/>
          <p:nvPr/>
        </p:nvSpPr>
        <p:spPr>
          <a:xfrm>
            <a:off x="987552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Finance &amp; ledger: income, expenses and surplus screenshot" descr="Finance &amp; ledger: income, expenses and surplu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7470648" cy="4441300"/>
          </a:xfrm>
          <a:prstGeom prst="rect">
            <a:avLst/>
          </a:prstGeom>
        </p:spPr>
      </p:pic>
      <p:sp>
        <p:nvSpPr>
          <p:cNvPr id="8" name="Income vs outflow icon circle"/>
          <p:cNvSpPr/>
          <p:nvPr/>
        </p:nvSpPr>
        <p:spPr>
          <a:xfrm>
            <a:off x="8503920" y="183660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Income vs outflow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946330"/>
            <a:ext cx="237744" cy="237744"/>
          </a:xfrm>
          <a:prstGeom prst="rect">
            <a:avLst/>
          </a:prstGeom>
        </p:spPr>
      </p:pic>
      <p:sp>
        <p:nvSpPr>
          <p:cNvPr id="10" name="Income vs outflow heading"/>
          <p:cNvSpPr txBox="1"/>
          <p:nvPr/>
        </p:nvSpPr>
        <p:spPr>
          <a:xfrm>
            <a:off x="914400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Income vs outflow</a:t>
            </a:r>
            <a:endParaRPr lang="en-US" sz="1700" dirty="0"/>
          </a:p>
        </p:txBody>
      </p:sp>
      <p:sp>
        <p:nvSpPr>
          <p:cNvPr id="11" name="Income vs outflow text"/>
          <p:cNvSpPr txBox="1"/>
          <p:nvPr/>
        </p:nvSpPr>
        <p:spPr>
          <a:xfrm>
            <a:off x="914400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Realised income, operating spend and net surplus for the year</a:t>
            </a:r>
            <a:endParaRPr lang="en-US" sz="1400" dirty="0"/>
          </a:p>
        </p:txBody>
      </p:sp>
      <p:sp>
        <p:nvSpPr>
          <p:cNvPr id="12" name="General ledger icon circle"/>
          <p:cNvSpPr/>
          <p:nvPr/>
        </p:nvSpPr>
        <p:spPr>
          <a:xfrm>
            <a:off x="8503920" y="318991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General ledg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299642"/>
            <a:ext cx="237744" cy="237744"/>
          </a:xfrm>
          <a:prstGeom prst="rect">
            <a:avLst/>
          </a:prstGeom>
        </p:spPr>
      </p:pic>
      <p:sp>
        <p:nvSpPr>
          <p:cNvPr id="14" name="General ledger heading"/>
          <p:cNvSpPr txBox="1"/>
          <p:nvPr/>
        </p:nvSpPr>
        <p:spPr>
          <a:xfrm>
            <a:off x="914400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General ledger</a:t>
            </a:r>
            <a:endParaRPr lang="en-US" sz="1700" dirty="0"/>
          </a:p>
        </p:txBody>
      </p:sp>
      <p:sp>
        <p:nvSpPr>
          <p:cNvPr id="15" name="General ledger text"/>
          <p:cNvSpPr txBox="1"/>
          <p:nvPr/>
        </p:nvSpPr>
        <p:spPr>
          <a:xfrm>
            <a:off x="914400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Every entry tagged by category, department and payment mode</a:t>
            </a:r>
            <a:endParaRPr lang="en-US" sz="1400" dirty="0"/>
          </a:p>
        </p:txBody>
      </p:sp>
      <p:sp>
        <p:nvSpPr>
          <p:cNvPr id="16" name="Department budgets icon circle"/>
          <p:cNvSpPr/>
          <p:nvPr/>
        </p:nvSpPr>
        <p:spPr>
          <a:xfrm>
            <a:off x="8503920" y="454322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Department budget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52954"/>
            <a:ext cx="237744" cy="237744"/>
          </a:xfrm>
          <a:prstGeom prst="rect">
            <a:avLst/>
          </a:prstGeom>
        </p:spPr>
      </p:pic>
      <p:sp>
        <p:nvSpPr>
          <p:cNvPr id="18" name="Department budgets heading"/>
          <p:cNvSpPr txBox="1"/>
          <p:nvPr/>
        </p:nvSpPr>
        <p:spPr>
          <a:xfrm>
            <a:off x="914400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Department budgets</a:t>
            </a:r>
            <a:endParaRPr lang="en-US" sz="1700" dirty="0"/>
          </a:p>
        </p:txBody>
      </p:sp>
      <p:sp>
        <p:nvSpPr>
          <p:cNvPr id="19" name="Department budgets text"/>
          <p:cNvSpPr txBox="1"/>
          <p:nvPr/>
        </p:nvSpPr>
        <p:spPr>
          <a:xfrm>
            <a:off x="914400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See where fuel, maintenance and payroll money goes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Fee management with online payment</a:t>
            </a:r>
            <a:endParaRPr lang="en-US" sz="3200" dirty="0"/>
          </a:p>
        </p:txBody>
      </p:sp>
      <p:sp>
        <p:nvSpPr>
          <p:cNvPr id="3" name="Fee management with online payment frame"/>
          <p:cNvSpPr/>
          <p:nvPr/>
        </p:nvSpPr>
        <p:spPr>
          <a:xfrm>
            <a:off x="4099255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Fee management with online payment dot 1"/>
          <p:cNvSpPr/>
          <p:nvPr/>
        </p:nvSpPr>
        <p:spPr>
          <a:xfrm>
            <a:off x="4227271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Fee management with online payment dot 2"/>
          <p:cNvSpPr/>
          <p:nvPr/>
        </p:nvSpPr>
        <p:spPr>
          <a:xfrm>
            <a:off x="4382719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Fee management with online payment dot 3"/>
          <p:cNvSpPr/>
          <p:nvPr/>
        </p:nvSpPr>
        <p:spPr>
          <a:xfrm>
            <a:off x="4538167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Fee management with online payment screenshot" descr="Fee management with online paymen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5831" y="1563624"/>
            <a:ext cx="7470648" cy="4441300"/>
          </a:xfrm>
          <a:prstGeom prst="rect">
            <a:avLst/>
          </a:prstGeom>
        </p:spPr>
      </p:pic>
      <p:sp>
        <p:nvSpPr>
          <p:cNvPr id="8" name="Invoices per cadet icon circle"/>
          <p:cNvSpPr/>
          <p:nvPr/>
        </p:nvSpPr>
        <p:spPr>
          <a:xfrm>
            <a:off x="54864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nvoices per cade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6330"/>
            <a:ext cx="237744" cy="237744"/>
          </a:xfrm>
          <a:prstGeom prst="rect">
            <a:avLst/>
          </a:prstGeom>
        </p:spPr>
      </p:pic>
      <p:sp>
        <p:nvSpPr>
          <p:cNvPr id="10" name="Invoices per cadet heading"/>
          <p:cNvSpPr txBox="1"/>
          <p:nvPr/>
        </p:nvSpPr>
        <p:spPr>
          <a:xfrm>
            <a:off x="118872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Invoices per cadet</a:t>
            </a:r>
            <a:endParaRPr lang="en-US" sz="1700" dirty="0"/>
          </a:p>
        </p:txBody>
      </p:sp>
      <p:sp>
        <p:nvSpPr>
          <p:cNvPr id="11" name="Invoices per cadet text"/>
          <p:cNvSpPr txBox="1"/>
          <p:nvPr/>
        </p:nvSpPr>
        <p:spPr>
          <a:xfrm>
            <a:off x="118872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Tuition, hostel, lab and transport fees with due dates</a:t>
            </a:r>
            <a:endParaRPr lang="en-US" sz="1400" dirty="0"/>
          </a:p>
        </p:txBody>
      </p:sp>
      <p:sp>
        <p:nvSpPr>
          <p:cNvPr id="12" name="Pay online icon circle"/>
          <p:cNvSpPr/>
          <p:nvPr/>
        </p:nvSpPr>
        <p:spPr>
          <a:xfrm>
            <a:off x="548640" y="318991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Pay onlin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99642"/>
            <a:ext cx="237744" cy="237744"/>
          </a:xfrm>
          <a:prstGeom prst="rect">
            <a:avLst/>
          </a:prstGeom>
        </p:spPr>
      </p:pic>
      <p:sp>
        <p:nvSpPr>
          <p:cNvPr id="14" name="Pay online heading"/>
          <p:cNvSpPr txBox="1"/>
          <p:nvPr/>
        </p:nvSpPr>
        <p:spPr>
          <a:xfrm>
            <a:off x="118872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Pay online</a:t>
            </a:r>
            <a:endParaRPr lang="en-US" sz="1700" dirty="0"/>
          </a:p>
        </p:txBody>
      </p:sp>
      <p:sp>
        <p:nvSpPr>
          <p:cNvPr id="15" name="Pay online text"/>
          <p:cNvSpPr txBox="1"/>
          <p:nvPr/>
        </p:nvSpPr>
        <p:spPr>
          <a:xfrm>
            <a:off x="118872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Razorpay and UPI QR checkout; status updates to Paid automatically</a:t>
            </a:r>
            <a:endParaRPr lang="en-US" sz="1400" dirty="0"/>
          </a:p>
        </p:txBody>
      </p:sp>
      <p:sp>
        <p:nvSpPr>
          <p:cNvPr id="16" name="Automatic reminders icon circle"/>
          <p:cNvSpPr/>
          <p:nvPr/>
        </p:nvSpPr>
        <p:spPr>
          <a:xfrm>
            <a:off x="548640" y="454322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Automatic reminder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52954"/>
            <a:ext cx="237744" cy="237744"/>
          </a:xfrm>
          <a:prstGeom prst="rect">
            <a:avLst/>
          </a:prstGeom>
        </p:spPr>
      </p:pic>
      <p:sp>
        <p:nvSpPr>
          <p:cNvPr id="18" name="Automatic reminders heading"/>
          <p:cNvSpPr txBox="1"/>
          <p:nvPr/>
        </p:nvSpPr>
        <p:spPr>
          <a:xfrm>
            <a:off x="118872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Automatic reminders</a:t>
            </a:r>
            <a:endParaRPr lang="en-US" sz="1700" dirty="0"/>
          </a:p>
        </p:txBody>
      </p:sp>
      <p:sp>
        <p:nvSpPr>
          <p:cNvPr id="19" name="Automatic reminders text"/>
          <p:cNvSpPr txBox="1"/>
          <p:nvPr/>
        </p:nvSpPr>
        <p:spPr>
          <a:xfrm>
            <a:off x="118872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Students and parents are notified about dues and receipts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HR &amp; payroll for faculty and staff</a:t>
            </a:r>
            <a:endParaRPr lang="en-US" sz="3200" dirty="0"/>
          </a:p>
        </p:txBody>
      </p:sp>
      <p:sp>
        <p:nvSpPr>
          <p:cNvPr id="3" name="HR &amp; payroll for faculty and staff frame"/>
          <p:cNvSpPr/>
          <p:nvPr/>
        </p:nvSpPr>
        <p:spPr>
          <a:xfrm>
            <a:off x="548640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HR &amp; payroll for faculty and staff dot 1"/>
          <p:cNvSpPr/>
          <p:nvPr/>
        </p:nvSpPr>
        <p:spPr>
          <a:xfrm>
            <a:off x="676656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HR &amp; payroll for faculty and staff dot 2"/>
          <p:cNvSpPr/>
          <p:nvPr/>
        </p:nvSpPr>
        <p:spPr>
          <a:xfrm>
            <a:off x="832104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HR &amp; payroll for faculty and staff dot 3"/>
          <p:cNvSpPr/>
          <p:nvPr/>
        </p:nvSpPr>
        <p:spPr>
          <a:xfrm>
            <a:off x="987552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HR &amp; payroll for faculty and staff screenshot" descr="HR &amp; payroll for faculty and staff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7470648" cy="4441300"/>
          </a:xfrm>
          <a:prstGeom prst="rect">
            <a:avLst/>
          </a:prstGeom>
        </p:spPr>
      </p:pic>
      <p:sp>
        <p:nvSpPr>
          <p:cNvPr id="8" name="Monthly payroll icon circle"/>
          <p:cNvSpPr/>
          <p:nvPr/>
        </p:nvSpPr>
        <p:spPr>
          <a:xfrm>
            <a:off x="850392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Monthly payrol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946330"/>
            <a:ext cx="237744" cy="237744"/>
          </a:xfrm>
          <a:prstGeom prst="rect">
            <a:avLst/>
          </a:prstGeom>
        </p:spPr>
      </p:pic>
      <p:sp>
        <p:nvSpPr>
          <p:cNvPr id="10" name="Monthly payroll heading"/>
          <p:cNvSpPr txBox="1"/>
          <p:nvPr/>
        </p:nvSpPr>
        <p:spPr>
          <a:xfrm>
            <a:off x="914400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Monthly payroll</a:t>
            </a:r>
            <a:endParaRPr lang="en-US" sz="1700" dirty="0"/>
          </a:p>
        </p:txBody>
      </p:sp>
      <p:sp>
        <p:nvSpPr>
          <p:cNvPr id="11" name="Monthly payroll text"/>
          <p:cNvSpPr txBox="1"/>
          <p:nvPr/>
        </p:nvSpPr>
        <p:spPr>
          <a:xfrm>
            <a:off x="914400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Basic pay, allowances and deductions calculated per person</a:t>
            </a:r>
            <a:endParaRPr lang="en-US" sz="1400" dirty="0"/>
          </a:p>
        </p:txBody>
      </p:sp>
      <p:sp>
        <p:nvSpPr>
          <p:cNvPr id="12" name="Payslips &amp; release icon circle"/>
          <p:cNvSpPr/>
          <p:nvPr/>
        </p:nvSpPr>
        <p:spPr>
          <a:xfrm>
            <a:off x="8503920" y="318991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Payslips &amp; releas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299642"/>
            <a:ext cx="237744" cy="237744"/>
          </a:xfrm>
          <a:prstGeom prst="rect">
            <a:avLst/>
          </a:prstGeom>
        </p:spPr>
      </p:pic>
      <p:sp>
        <p:nvSpPr>
          <p:cNvPr id="14" name="Payslips &amp;amp; release heading"/>
          <p:cNvSpPr txBox="1"/>
          <p:nvPr/>
        </p:nvSpPr>
        <p:spPr>
          <a:xfrm>
            <a:off x="914400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Payslips &amp; release</a:t>
            </a:r>
            <a:endParaRPr lang="en-US" sz="1700" dirty="0"/>
          </a:p>
        </p:txBody>
      </p:sp>
      <p:sp>
        <p:nvSpPr>
          <p:cNvPr id="15" name="Payslips &amp;amp; release text"/>
          <p:cNvSpPr txBox="1"/>
          <p:nvPr/>
        </p:nvSpPr>
        <p:spPr>
          <a:xfrm>
            <a:off x="914400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Track paid and pending salaries; issue payslips in one click</a:t>
            </a:r>
            <a:endParaRPr lang="en-US" sz="1400" dirty="0"/>
          </a:p>
        </p:txBody>
      </p:sp>
      <p:sp>
        <p:nvSpPr>
          <p:cNvPr id="16" name="Leave requests icon circle"/>
          <p:cNvSpPr/>
          <p:nvPr/>
        </p:nvSpPr>
        <p:spPr>
          <a:xfrm>
            <a:off x="8503920" y="454322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Leave request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52954"/>
            <a:ext cx="237744" cy="237744"/>
          </a:xfrm>
          <a:prstGeom prst="rect">
            <a:avLst/>
          </a:prstGeom>
        </p:spPr>
      </p:pic>
      <p:sp>
        <p:nvSpPr>
          <p:cNvPr id="18" name="Leave requests heading"/>
          <p:cNvSpPr txBox="1"/>
          <p:nvPr/>
        </p:nvSpPr>
        <p:spPr>
          <a:xfrm>
            <a:off x="914400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Leave requests</a:t>
            </a:r>
            <a:endParaRPr lang="en-US" sz="1700" dirty="0"/>
          </a:p>
        </p:txBody>
      </p:sp>
      <p:sp>
        <p:nvSpPr>
          <p:cNvPr id="19" name="Leave requests text"/>
          <p:cNvSpPr txBox="1"/>
          <p:nvPr/>
        </p:nvSpPr>
        <p:spPr>
          <a:xfrm>
            <a:off x="914400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Approve or reject leave applications from the same screen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Roles &amp; permissions: control who sees what</a:t>
            </a:r>
            <a:endParaRPr lang="en-US" sz="3200" dirty="0"/>
          </a:p>
        </p:txBody>
      </p:sp>
      <p:sp>
        <p:nvSpPr>
          <p:cNvPr id="3" name="Roles &amp; permissions: control who sees what frame"/>
          <p:cNvSpPr/>
          <p:nvPr/>
        </p:nvSpPr>
        <p:spPr>
          <a:xfrm>
            <a:off x="4099255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Roles &amp; permissions: control who sees what dot 1"/>
          <p:cNvSpPr/>
          <p:nvPr/>
        </p:nvSpPr>
        <p:spPr>
          <a:xfrm>
            <a:off x="4227271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Roles &amp; permissions: control who sees what dot 2"/>
          <p:cNvSpPr/>
          <p:nvPr/>
        </p:nvSpPr>
        <p:spPr>
          <a:xfrm>
            <a:off x="4382719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Roles &amp; permissions: control who sees what dot 3"/>
          <p:cNvSpPr/>
          <p:nvPr/>
        </p:nvSpPr>
        <p:spPr>
          <a:xfrm>
            <a:off x="4538167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Roles &amp; permissions: control who sees what screenshot" descr="Roles &amp; permissions: control who sees wha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5831" y="1563624"/>
            <a:ext cx="7470648" cy="4441300"/>
          </a:xfrm>
          <a:prstGeom prst="rect">
            <a:avLst/>
          </a:prstGeom>
        </p:spPr>
      </p:pic>
      <p:sp>
        <p:nvSpPr>
          <p:cNvPr id="8" name="Ready-made roles icon circle"/>
          <p:cNvSpPr/>
          <p:nvPr/>
        </p:nvSpPr>
        <p:spPr>
          <a:xfrm>
            <a:off x="54864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Ready-made rol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6330"/>
            <a:ext cx="237744" cy="237744"/>
          </a:xfrm>
          <a:prstGeom prst="rect">
            <a:avLst/>
          </a:prstGeom>
        </p:spPr>
      </p:pic>
      <p:sp>
        <p:nvSpPr>
          <p:cNvPr id="10" name="Ready-made roles heading"/>
          <p:cNvSpPr txBox="1"/>
          <p:nvPr/>
        </p:nvSpPr>
        <p:spPr>
          <a:xfrm>
            <a:off x="118872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Ready-made roles</a:t>
            </a:r>
            <a:endParaRPr lang="en-US" sz="1700" dirty="0"/>
          </a:p>
        </p:txBody>
      </p:sp>
      <p:sp>
        <p:nvSpPr>
          <p:cNvPr id="11" name="Ready-made roles text"/>
          <p:cNvSpPr txBox="1"/>
          <p:nvPr/>
        </p:nvSpPr>
        <p:spPr>
          <a:xfrm>
            <a:off x="118872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Super Admin, Academic Dean, CFO, Ground Instructor, Gate Officer and more</a:t>
            </a:r>
            <a:endParaRPr lang="en-US" sz="1400" dirty="0"/>
          </a:p>
        </p:txBody>
      </p:sp>
      <p:sp>
        <p:nvSpPr>
          <p:cNvPr id="12" name="Granular matrix icon circle"/>
          <p:cNvSpPr/>
          <p:nvPr/>
        </p:nvSpPr>
        <p:spPr>
          <a:xfrm>
            <a:off x="548640" y="318991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Granular matrix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99642"/>
            <a:ext cx="237744" cy="237744"/>
          </a:xfrm>
          <a:prstGeom prst="rect">
            <a:avLst/>
          </a:prstGeom>
        </p:spPr>
      </p:pic>
      <p:sp>
        <p:nvSpPr>
          <p:cNvPr id="14" name="Granular matrix heading"/>
          <p:cNvSpPr txBox="1"/>
          <p:nvPr/>
        </p:nvSpPr>
        <p:spPr>
          <a:xfrm>
            <a:off x="118872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Granular matrix</a:t>
            </a:r>
            <a:endParaRPr lang="en-US" sz="1700" dirty="0"/>
          </a:p>
        </p:txBody>
      </p:sp>
      <p:sp>
        <p:nvSpPr>
          <p:cNvPr id="15" name="Granular matrix text"/>
          <p:cNvSpPr txBox="1"/>
          <p:nvPr/>
        </p:nvSpPr>
        <p:spPr>
          <a:xfrm>
            <a:off x="118872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View, create, edit, delete and approve rights for every module</a:t>
            </a:r>
            <a:endParaRPr lang="en-US" sz="1400" dirty="0"/>
          </a:p>
        </p:txBody>
      </p:sp>
      <p:sp>
        <p:nvSpPr>
          <p:cNvPr id="16" name="Custom roles icon circle"/>
          <p:cNvSpPr/>
          <p:nvPr/>
        </p:nvSpPr>
        <p:spPr>
          <a:xfrm>
            <a:off x="548640" y="454322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Custom rol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52954"/>
            <a:ext cx="237744" cy="237744"/>
          </a:xfrm>
          <a:prstGeom prst="rect">
            <a:avLst/>
          </a:prstGeom>
        </p:spPr>
      </p:pic>
      <p:sp>
        <p:nvSpPr>
          <p:cNvPr id="18" name="Custom roles heading"/>
          <p:cNvSpPr txBox="1"/>
          <p:nvPr/>
        </p:nvSpPr>
        <p:spPr>
          <a:xfrm>
            <a:off x="118872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 roles</a:t>
            </a:r>
            <a:endParaRPr lang="en-US" sz="1700" dirty="0"/>
          </a:p>
        </p:txBody>
      </p:sp>
      <p:sp>
        <p:nvSpPr>
          <p:cNvPr id="19" name="Custom roles text"/>
          <p:cNvSpPr txBox="1"/>
          <p:nvPr/>
        </p:nvSpPr>
        <p:spPr>
          <a:xfrm>
            <a:off x="118872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Create a new role for any department in seconds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Academics &amp; flight operations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DD3FC"/>
                </a:solidFill>
              </a:rPr>
              <a:t>Admissions CRM · Timetable &amp; simulators · Attendance · Fleet compliance · E-learning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Admissions CRM: from enquiry to enrolled cadet</a:t>
            </a:r>
            <a:endParaRPr lang="en-US" sz="3200" dirty="0"/>
          </a:p>
        </p:txBody>
      </p:sp>
      <p:sp>
        <p:nvSpPr>
          <p:cNvPr id="3" name="Admissions CRM: from enquiry to enrolled cadet frame"/>
          <p:cNvSpPr/>
          <p:nvPr/>
        </p:nvSpPr>
        <p:spPr>
          <a:xfrm>
            <a:off x="548640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Admissions CRM: from enquiry to enrolled cadet dot 1"/>
          <p:cNvSpPr/>
          <p:nvPr/>
        </p:nvSpPr>
        <p:spPr>
          <a:xfrm>
            <a:off x="676656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Admissions CRM: from enquiry to enrolled cadet dot 2"/>
          <p:cNvSpPr/>
          <p:nvPr/>
        </p:nvSpPr>
        <p:spPr>
          <a:xfrm>
            <a:off x="832104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Admissions CRM: from enquiry to enrolled cadet dot 3"/>
          <p:cNvSpPr/>
          <p:nvPr/>
        </p:nvSpPr>
        <p:spPr>
          <a:xfrm>
            <a:off x="987552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Admissions CRM: from enquiry to enrolled cadet screenshot" descr="Admissions CRM: from enquiry to enrolled cade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7470648" cy="4441300"/>
          </a:xfrm>
          <a:prstGeom prst="rect">
            <a:avLst/>
          </a:prstGeom>
        </p:spPr>
      </p:pic>
      <p:sp>
        <p:nvSpPr>
          <p:cNvPr id="8" name="Full pipeline icon circle"/>
          <p:cNvSpPr/>
          <p:nvPr/>
        </p:nvSpPr>
        <p:spPr>
          <a:xfrm>
            <a:off x="850392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Full pipelin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946330"/>
            <a:ext cx="237744" cy="237744"/>
          </a:xfrm>
          <a:prstGeom prst="rect">
            <a:avLst/>
          </a:prstGeom>
        </p:spPr>
      </p:pic>
      <p:sp>
        <p:nvSpPr>
          <p:cNvPr id="10" name="Full pipeline heading"/>
          <p:cNvSpPr txBox="1"/>
          <p:nvPr/>
        </p:nvSpPr>
        <p:spPr>
          <a:xfrm>
            <a:off x="914400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Full pipeline</a:t>
            </a:r>
            <a:endParaRPr lang="en-US" sz="1700" dirty="0"/>
          </a:p>
        </p:txBody>
      </p:sp>
      <p:sp>
        <p:nvSpPr>
          <p:cNvPr id="11" name="Full pipeline text"/>
          <p:cNvSpPr txBox="1"/>
          <p:nvPr/>
        </p:nvSpPr>
        <p:spPr>
          <a:xfrm>
            <a:off x="914400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Enquiries, pending review, medically cleared and enrolled</a:t>
            </a:r>
            <a:endParaRPr lang="en-US" sz="1400" dirty="0"/>
          </a:p>
        </p:txBody>
      </p:sp>
      <p:sp>
        <p:nvSpPr>
          <p:cNvPr id="12" name="DGCA eligibility check icon circle"/>
          <p:cNvSpPr/>
          <p:nvPr/>
        </p:nvSpPr>
        <p:spPr>
          <a:xfrm>
            <a:off x="8503920" y="318991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DGCA eligibility chec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299642"/>
            <a:ext cx="237744" cy="237744"/>
          </a:xfrm>
          <a:prstGeom prst="rect">
            <a:avLst/>
          </a:prstGeom>
        </p:spPr>
      </p:pic>
      <p:sp>
        <p:nvSpPr>
          <p:cNvPr id="14" name="DGCA eligibility check heading"/>
          <p:cNvSpPr txBox="1"/>
          <p:nvPr/>
        </p:nvSpPr>
        <p:spPr>
          <a:xfrm>
            <a:off x="914400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DGCA eligibility check</a:t>
            </a:r>
            <a:endParaRPr lang="en-US" sz="1700" dirty="0"/>
          </a:p>
        </p:txBody>
      </p:sp>
      <p:sp>
        <p:nvSpPr>
          <p:cNvPr id="15" name="DGCA eligibility check text"/>
          <p:cNvSpPr txBox="1"/>
          <p:nvPr/>
        </p:nvSpPr>
        <p:spPr>
          <a:xfrm>
            <a:off x="914400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10+2 Physics/Maths, merit score and Class 1/2 medical</a:t>
            </a:r>
            <a:endParaRPr lang="en-US" sz="1400" dirty="0"/>
          </a:p>
        </p:txBody>
      </p:sp>
      <p:sp>
        <p:nvSpPr>
          <p:cNvPr id="16" name="Counselling CRM icon circle"/>
          <p:cNvSpPr/>
          <p:nvPr/>
        </p:nvSpPr>
        <p:spPr>
          <a:xfrm>
            <a:off x="8503920" y="454322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Counselling CRM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52954"/>
            <a:ext cx="237744" cy="237744"/>
          </a:xfrm>
          <a:prstGeom prst="rect">
            <a:avLst/>
          </a:prstGeom>
        </p:spPr>
      </p:pic>
      <p:sp>
        <p:nvSpPr>
          <p:cNvPr id="18" name="Counselling CRM heading"/>
          <p:cNvSpPr txBox="1"/>
          <p:nvPr/>
        </p:nvSpPr>
        <p:spPr>
          <a:xfrm>
            <a:off x="914400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Counselling CRM</a:t>
            </a:r>
            <a:endParaRPr lang="en-US" sz="1700" dirty="0"/>
          </a:p>
        </p:txBody>
      </p:sp>
      <p:sp>
        <p:nvSpPr>
          <p:cNvPr id="19" name="Counselling CRM text"/>
          <p:cNvSpPr txBox="1"/>
          <p:nvPr/>
        </p:nvSpPr>
        <p:spPr>
          <a:xfrm>
            <a:off x="914400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Follow-ups and status for every applicant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Timetable &amp; flight schedule without clashes</a:t>
            </a:r>
            <a:endParaRPr lang="en-US" sz="3200" dirty="0"/>
          </a:p>
        </p:txBody>
      </p:sp>
      <p:sp>
        <p:nvSpPr>
          <p:cNvPr id="3" name="Weekly matrix frame"/>
          <p:cNvSpPr/>
          <p:nvPr/>
        </p:nvSpPr>
        <p:spPr>
          <a:xfrm>
            <a:off x="548640" y="1280160"/>
            <a:ext cx="5440680" cy="3465315"/>
          </a:xfrm>
          <a:prstGeom prst="roundRect">
            <a:avLst>
              <a:gd name="adj" fmla="val 21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Weekly matrix dot 1"/>
          <p:cNvSpPr/>
          <p:nvPr/>
        </p:nvSpPr>
        <p:spPr>
          <a:xfrm>
            <a:off x="676656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Weekly matrix dot 2"/>
          <p:cNvSpPr/>
          <p:nvPr/>
        </p:nvSpPr>
        <p:spPr>
          <a:xfrm>
            <a:off x="832104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Weekly matrix dot 3"/>
          <p:cNvSpPr/>
          <p:nvPr/>
        </p:nvSpPr>
        <p:spPr>
          <a:xfrm>
            <a:off x="987552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Weekly matrix screenshot" descr="Weekly matrix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7904"/>
            <a:ext cx="5367528" cy="3190995"/>
          </a:xfrm>
          <a:prstGeom prst="rect">
            <a:avLst/>
          </a:prstGeom>
        </p:spPr>
      </p:pic>
      <p:sp>
        <p:nvSpPr>
          <p:cNvPr id="8" name="Utilization frame"/>
          <p:cNvSpPr/>
          <p:nvPr/>
        </p:nvSpPr>
        <p:spPr>
          <a:xfrm>
            <a:off x="6473952" y="1280160"/>
            <a:ext cx="5440680" cy="3465315"/>
          </a:xfrm>
          <a:prstGeom prst="roundRect">
            <a:avLst>
              <a:gd name="adj" fmla="val 21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9" name="Utilization dot 1"/>
          <p:cNvSpPr/>
          <p:nvPr/>
        </p:nvSpPr>
        <p:spPr>
          <a:xfrm>
            <a:off x="6601968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Utilization dot 2"/>
          <p:cNvSpPr/>
          <p:nvPr/>
        </p:nvSpPr>
        <p:spPr>
          <a:xfrm>
            <a:off x="6757416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Utilization dot 3"/>
          <p:cNvSpPr/>
          <p:nvPr/>
        </p:nvSpPr>
        <p:spPr>
          <a:xfrm>
            <a:off x="6912864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12" name="Utilization screenshot" descr="Utilization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517904"/>
            <a:ext cx="5367528" cy="31909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5019795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Weekly matrix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367267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Ground lectures, SIM-01/SIM-02 slots, flight lines and cabin-crew classes in one colour-coded view, with automatic conflict detection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5019795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Simulator &amp; instructor utilisation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473952" y="5367267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Hours used per simulator and lecture hall, and weekly teaching load per instructor — so expensive assets are never idle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Attendance &amp; DGCA compliance</a:t>
            </a:r>
            <a:endParaRPr lang="en-US" sz="3200" dirty="0"/>
          </a:p>
        </p:txBody>
      </p:sp>
      <p:sp>
        <p:nvSpPr>
          <p:cNvPr id="3" name="Attendance &amp; DGCA compliance frame"/>
          <p:cNvSpPr/>
          <p:nvPr/>
        </p:nvSpPr>
        <p:spPr>
          <a:xfrm>
            <a:off x="4099255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Attendance &amp; DGCA compliance dot 1"/>
          <p:cNvSpPr/>
          <p:nvPr/>
        </p:nvSpPr>
        <p:spPr>
          <a:xfrm>
            <a:off x="4227271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Attendance &amp; DGCA compliance dot 2"/>
          <p:cNvSpPr/>
          <p:nvPr/>
        </p:nvSpPr>
        <p:spPr>
          <a:xfrm>
            <a:off x="4382719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Attendance &amp; DGCA compliance dot 3"/>
          <p:cNvSpPr/>
          <p:nvPr/>
        </p:nvSpPr>
        <p:spPr>
          <a:xfrm>
            <a:off x="4538167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Attendance &amp; DGCA compliance screenshot" descr="Attendance &amp; DGCA complianc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5831" y="1563624"/>
            <a:ext cx="7470648" cy="4441300"/>
          </a:xfrm>
          <a:prstGeom prst="rect">
            <a:avLst/>
          </a:prstGeom>
        </p:spPr>
      </p:pic>
      <p:sp>
        <p:nvSpPr>
          <p:cNvPr id="8" name="One-tap roll call icon circle"/>
          <p:cNvSpPr/>
          <p:nvPr/>
        </p:nvSpPr>
        <p:spPr>
          <a:xfrm>
            <a:off x="54864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One-tap roll cal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6330"/>
            <a:ext cx="237744" cy="237744"/>
          </a:xfrm>
          <a:prstGeom prst="rect">
            <a:avLst/>
          </a:prstGeom>
        </p:spPr>
      </p:pic>
      <p:sp>
        <p:nvSpPr>
          <p:cNvPr id="10" name="One-tap roll call heading"/>
          <p:cNvSpPr txBox="1"/>
          <p:nvPr/>
        </p:nvSpPr>
        <p:spPr>
          <a:xfrm>
            <a:off x="118872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One-tap roll call</a:t>
            </a:r>
            <a:endParaRPr lang="en-US" sz="1700" dirty="0"/>
          </a:p>
        </p:txBody>
      </p:sp>
      <p:sp>
        <p:nvSpPr>
          <p:cNvPr id="11" name="One-tap roll call text"/>
          <p:cNvSpPr txBox="1"/>
          <p:nvPr/>
        </p:nvSpPr>
        <p:spPr>
          <a:xfrm>
            <a:off x="118872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Mark present, absent or late for the whole batch</a:t>
            </a:r>
            <a:endParaRPr lang="en-US" sz="1400" dirty="0"/>
          </a:p>
        </p:txBody>
      </p:sp>
      <p:sp>
        <p:nvSpPr>
          <p:cNvPr id="12" name="75% threshold alerts icon circle"/>
          <p:cNvSpPr/>
          <p:nvPr/>
        </p:nvSpPr>
        <p:spPr>
          <a:xfrm>
            <a:off x="548640" y="3189914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75% threshold alert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99642"/>
            <a:ext cx="237744" cy="237744"/>
          </a:xfrm>
          <a:prstGeom prst="rect">
            <a:avLst/>
          </a:prstGeom>
        </p:spPr>
      </p:pic>
      <p:sp>
        <p:nvSpPr>
          <p:cNvPr id="14" name="75% threshold alerts heading"/>
          <p:cNvSpPr txBox="1"/>
          <p:nvPr/>
        </p:nvSpPr>
        <p:spPr>
          <a:xfrm>
            <a:off x="118872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75% threshold alerts</a:t>
            </a:r>
            <a:endParaRPr lang="en-US" sz="1700" dirty="0"/>
          </a:p>
        </p:txBody>
      </p:sp>
      <p:sp>
        <p:nvSpPr>
          <p:cNvPr id="15" name="75% threshold alerts text"/>
          <p:cNvSpPr txBox="1"/>
          <p:nvPr/>
        </p:nvSpPr>
        <p:spPr>
          <a:xfrm>
            <a:off x="118872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Cadets at risk of DGCA ineligibility are flagged early</a:t>
            </a:r>
            <a:endParaRPr lang="en-US" sz="1400" dirty="0"/>
          </a:p>
        </p:txBody>
      </p:sp>
      <p:sp>
        <p:nvSpPr>
          <p:cNvPr id="16" name="Session logs &amp; gate kiosk icon circle"/>
          <p:cNvSpPr/>
          <p:nvPr/>
        </p:nvSpPr>
        <p:spPr>
          <a:xfrm>
            <a:off x="548640" y="454322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Session logs &amp; gate kios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52954"/>
            <a:ext cx="237744" cy="237744"/>
          </a:xfrm>
          <a:prstGeom prst="rect">
            <a:avLst/>
          </a:prstGeom>
        </p:spPr>
      </p:pic>
      <p:sp>
        <p:nvSpPr>
          <p:cNvPr id="18" name="Session logs &amp;amp; gate kiosk heading"/>
          <p:cNvSpPr txBox="1"/>
          <p:nvPr/>
        </p:nvSpPr>
        <p:spPr>
          <a:xfrm>
            <a:off x="118872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Session logs &amp; gate kiosk</a:t>
            </a:r>
            <a:endParaRPr lang="en-US" sz="1700" dirty="0"/>
          </a:p>
        </p:txBody>
      </p:sp>
      <p:sp>
        <p:nvSpPr>
          <p:cNvPr id="19" name="Session logs &amp;amp; gate kiosk text"/>
          <p:cNvSpPr txBox="1"/>
          <p:nvPr/>
        </p:nvSpPr>
        <p:spPr>
          <a:xfrm>
            <a:off x="118872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Audit-ready records of every class and check-in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Fleet, simulators &amp; airworthiness</a:t>
            </a:r>
            <a:endParaRPr lang="en-US" sz="3200" dirty="0"/>
          </a:p>
        </p:txBody>
      </p:sp>
      <p:sp>
        <p:nvSpPr>
          <p:cNvPr id="3" name="Fleet, simulators &amp; airworthiness frame"/>
          <p:cNvSpPr/>
          <p:nvPr/>
        </p:nvSpPr>
        <p:spPr>
          <a:xfrm>
            <a:off x="548640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Fleet, simulators &amp; airworthiness dot 1"/>
          <p:cNvSpPr/>
          <p:nvPr/>
        </p:nvSpPr>
        <p:spPr>
          <a:xfrm>
            <a:off x="676656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Fleet, simulators &amp; airworthiness dot 2"/>
          <p:cNvSpPr/>
          <p:nvPr/>
        </p:nvSpPr>
        <p:spPr>
          <a:xfrm>
            <a:off x="832104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Fleet, simulators &amp; airworthiness dot 3"/>
          <p:cNvSpPr/>
          <p:nvPr/>
        </p:nvSpPr>
        <p:spPr>
          <a:xfrm>
            <a:off x="987552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Fleet, simulators &amp; airworthiness screenshot" descr="Fleet, simulators &amp; airworthines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7470648" cy="4441300"/>
          </a:xfrm>
          <a:prstGeom prst="rect">
            <a:avLst/>
          </a:prstGeom>
        </p:spPr>
      </p:pic>
      <p:sp>
        <p:nvSpPr>
          <p:cNvPr id="8" name="Aircraft &amp; simulators icon circle"/>
          <p:cNvSpPr/>
          <p:nvPr/>
        </p:nvSpPr>
        <p:spPr>
          <a:xfrm>
            <a:off x="850392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Aircraft &amp; simulator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946330"/>
            <a:ext cx="237744" cy="237744"/>
          </a:xfrm>
          <a:prstGeom prst="rect">
            <a:avLst/>
          </a:prstGeom>
        </p:spPr>
      </p:pic>
      <p:sp>
        <p:nvSpPr>
          <p:cNvPr id="10" name="Aircraft &amp;amp; simulators heading"/>
          <p:cNvSpPr txBox="1"/>
          <p:nvPr/>
        </p:nvSpPr>
        <p:spPr>
          <a:xfrm>
            <a:off x="914400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Aircraft &amp; simulators</a:t>
            </a:r>
            <a:endParaRPr lang="en-US" sz="1700" dirty="0"/>
          </a:p>
        </p:txBody>
      </p:sp>
      <p:sp>
        <p:nvSpPr>
          <p:cNvPr id="11" name="Aircraft &amp;amp; simulators text"/>
          <p:cNvSpPr txBox="1"/>
          <p:nvPr/>
        </p:nvSpPr>
        <p:spPr>
          <a:xfrm>
            <a:off x="914400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Cessna 172, Piper PA-28, Redbird FMX, ALSIM ALX in one register</a:t>
            </a:r>
            <a:endParaRPr lang="en-US" sz="1400" dirty="0"/>
          </a:p>
        </p:txBody>
      </p:sp>
      <p:sp>
        <p:nvSpPr>
          <p:cNvPr id="12" name="Hours &amp; maintenance icon circle"/>
          <p:cNvSpPr/>
          <p:nvPr/>
        </p:nvSpPr>
        <p:spPr>
          <a:xfrm>
            <a:off x="8503920" y="318991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Hours &amp; maintenanc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299642"/>
            <a:ext cx="237744" cy="237744"/>
          </a:xfrm>
          <a:prstGeom prst="rect">
            <a:avLst/>
          </a:prstGeom>
        </p:spPr>
      </p:pic>
      <p:sp>
        <p:nvSpPr>
          <p:cNvPr id="14" name="Hours &amp;amp; maintenance heading"/>
          <p:cNvSpPr txBox="1"/>
          <p:nvPr/>
        </p:nvSpPr>
        <p:spPr>
          <a:xfrm>
            <a:off x="914400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Hours &amp; maintenance</a:t>
            </a:r>
            <a:endParaRPr lang="en-US" sz="1700" dirty="0"/>
          </a:p>
        </p:txBody>
      </p:sp>
      <p:sp>
        <p:nvSpPr>
          <p:cNvPr id="15" name="Hours &amp;amp; maintenance text"/>
          <p:cNvSpPr txBox="1"/>
          <p:nvPr/>
        </p:nvSpPr>
        <p:spPr>
          <a:xfrm>
            <a:off x="914400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Logged operating time and next mandatory maintenance due</a:t>
            </a:r>
            <a:endParaRPr lang="en-US" sz="1400" dirty="0"/>
          </a:p>
        </p:txBody>
      </p:sp>
      <p:sp>
        <p:nvSpPr>
          <p:cNvPr id="16" name="Compliance status icon circle"/>
          <p:cNvSpPr/>
          <p:nvPr/>
        </p:nvSpPr>
        <p:spPr>
          <a:xfrm>
            <a:off x="8503920" y="454322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Compliance statu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52954"/>
            <a:ext cx="237744" cy="237744"/>
          </a:xfrm>
          <a:prstGeom prst="rect">
            <a:avLst/>
          </a:prstGeom>
        </p:spPr>
      </p:pic>
      <p:sp>
        <p:nvSpPr>
          <p:cNvPr id="18" name="Compliance status heading"/>
          <p:cNvSpPr txBox="1"/>
          <p:nvPr/>
        </p:nvSpPr>
        <p:spPr>
          <a:xfrm>
            <a:off x="914400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Compliance status</a:t>
            </a:r>
            <a:endParaRPr lang="en-US" sz="1700" dirty="0"/>
          </a:p>
        </p:txBody>
      </p:sp>
      <p:sp>
        <p:nvSpPr>
          <p:cNvPr id="19" name="Compliance status text"/>
          <p:cNvSpPr txBox="1"/>
          <p:nvPr/>
        </p:nvSpPr>
        <p:spPr>
          <a:xfrm>
            <a:off x="914400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Airworthiness certificates tracked for DGCA inspection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E-learning and instructor quality</a:t>
            </a:r>
            <a:endParaRPr lang="en-US" sz="3200" dirty="0"/>
          </a:p>
        </p:txBody>
      </p:sp>
      <p:sp>
        <p:nvSpPr>
          <p:cNvPr id="3" name="LMS frame"/>
          <p:cNvSpPr/>
          <p:nvPr/>
        </p:nvSpPr>
        <p:spPr>
          <a:xfrm>
            <a:off x="548640" y="1280160"/>
            <a:ext cx="5440680" cy="3465315"/>
          </a:xfrm>
          <a:prstGeom prst="roundRect">
            <a:avLst>
              <a:gd name="adj" fmla="val 21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LMS dot 1"/>
          <p:cNvSpPr/>
          <p:nvPr/>
        </p:nvSpPr>
        <p:spPr>
          <a:xfrm>
            <a:off x="676656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LMS dot 2"/>
          <p:cNvSpPr/>
          <p:nvPr/>
        </p:nvSpPr>
        <p:spPr>
          <a:xfrm>
            <a:off x="832104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LMS dot 3"/>
          <p:cNvSpPr/>
          <p:nvPr/>
        </p:nvSpPr>
        <p:spPr>
          <a:xfrm>
            <a:off x="987552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LMS screenshot" descr="LM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7904"/>
            <a:ext cx="5367528" cy="3190995"/>
          </a:xfrm>
          <a:prstGeom prst="rect">
            <a:avLst/>
          </a:prstGeom>
        </p:spPr>
      </p:pic>
      <p:sp>
        <p:nvSpPr>
          <p:cNvPr id="8" name="Instructor ratings frame"/>
          <p:cNvSpPr/>
          <p:nvPr/>
        </p:nvSpPr>
        <p:spPr>
          <a:xfrm>
            <a:off x="6473952" y="1280160"/>
            <a:ext cx="5440680" cy="3465315"/>
          </a:xfrm>
          <a:prstGeom prst="roundRect">
            <a:avLst>
              <a:gd name="adj" fmla="val 21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9" name="Instructor ratings dot 1"/>
          <p:cNvSpPr/>
          <p:nvPr/>
        </p:nvSpPr>
        <p:spPr>
          <a:xfrm>
            <a:off x="6601968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Instructor ratings dot 2"/>
          <p:cNvSpPr/>
          <p:nvPr/>
        </p:nvSpPr>
        <p:spPr>
          <a:xfrm>
            <a:off x="6757416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Instructor ratings dot 3"/>
          <p:cNvSpPr/>
          <p:nvPr/>
        </p:nvSpPr>
        <p:spPr>
          <a:xfrm>
            <a:off x="6912864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12" name="Instructor ratings screenshot" descr="Instructor rating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517904"/>
            <a:ext cx="5367528" cy="31909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5019795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E-Learning / LMS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367267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Study manuals, checklists, video lectures and online quizzes uploaded by instructors and downloaded by cadets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5019795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Instructor ratings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473952" y="5367267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Students score teaching, cockpit communication and punctuality — management sees a scorecard for every instructor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Campus services, all built in</a:t>
            </a:r>
            <a:endParaRPr lang="en-US" sz="3200" dirty="0"/>
          </a:p>
        </p:txBody>
      </p:sp>
      <p:sp>
        <p:nvSpPr>
          <p:cNvPr id="3" name="Visitor &amp; gate pass frame"/>
          <p:cNvSpPr/>
          <p:nvPr/>
        </p:nvSpPr>
        <p:spPr>
          <a:xfrm>
            <a:off x="548640" y="1234440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Visitor &amp; gate pass dot 1"/>
          <p:cNvSpPr/>
          <p:nvPr/>
        </p:nvSpPr>
        <p:spPr>
          <a:xfrm>
            <a:off x="676656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Visitor &amp; gate pass dot 2"/>
          <p:cNvSpPr/>
          <p:nvPr/>
        </p:nvSpPr>
        <p:spPr>
          <a:xfrm>
            <a:off x="832104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Visitor &amp; gate pass dot 3"/>
          <p:cNvSpPr/>
          <p:nvPr/>
        </p:nvSpPr>
        <p:spPr>
          <a:xfrm>
            <a:off x="987552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Visitor &amp; gate pass screenshot" descr="Visitor &amp; gate pas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472184"/>
            <a:ext cx="2532888" cy="1505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0600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Visitor &amp; gate pass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8032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Digital passes and live entry log</a:t>
            </a:r>
            <a:endParaRPr lang="en-US" sz="1200" dirty="0"/>
          </a:p>
        </p:txBody>
      </p:sp>
      <p:sp>
        <p:nvSpPr>
          <p:cNvPr id="10" name="ID card generator frame"/>
          <p:cNvSpPr/>
          <p:nvPr/>
        </p:nvSpPr>
        <p:spPr>
          <a:xfrm>
            <a:off x="3367735" y="1234440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11" name="ID card generator dot 1"/>
          <p:cNvSpPr/>
          <p:nvPr/>
        </p:nvSpPr>
        <p:spPr>
          <a:xfrm>
            <a:off x="3495751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ID card generator dot 2"/>
          <p:cNvSpPr/>
          <p:nvPr/>
        </p:nvSpPr>
        <p:spPr>
          <a:xfrm>
            <a:off x="3651199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ID card generator dot 3"/>
          <p:cNvSpPr/>
          <p:nvPr/>
        </p:nvSpPr>
        <p:spPr>
          <a:xfrm>
            <a:off x="3806647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14" name="ID card generator screenshot" descr="ID card generator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311" y="1472184"/>
            <a:ext cx="2532888" cy="15058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367735" y="310600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 card generator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367735" y="338032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Smart ID badges with QR code</a:t>
            </a:r>
            <a:endParaRPr lang="en-US" sz="1200" dirty="0"/>
          </a:p>
        </p:txBody>
      </p:sp>
      <p:sp>
        <p:nvSpPr>
          <p:cNvPr id="17" name="Feedback &amp; tickets frame"/>
          <p:cNvSpPr/>
          <p:nvPr/>
        </p:nvSpPr>
        <p:spPr>
          <a:xfrm>
            <a:off x="6186830" y="1234440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18" name="Feedback &amp; tickets dot 1"/>
          <p:cNvSpPr/>
          <p:nvPr/>
        </p:nvSpPr>
        <p:spPr>
          <a:xfrm>
            <a:off x="6314846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Feedback &amp; tickets dot 2"/>
          <p:cNvSpPr/>
          <p:nvPr/>
        </p:nvSpPr>
        <p:spPr>
          <a:xfrm>
            <a:off x="6470294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Feedback &amp; tickets dot 3"/>
          <p:cNvSpPr/>
          <p:nvPr/>
        </p:nvSpPr>
        <p:spPr>
          <a:xfrm>
            <a:off x="6625742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21" name="Feedback &amp; tickets screenshot" descr="Feedback &amp; tickets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06" y="1472184"/>
            <a:ext cx="2532888" cy="15058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186830" y="310600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Feedback &amp; tickets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186830" y="338032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Helpdesk with priority and status</a:t>
            </a:r>
            <a:endParaRPr lang="en-US" sz="1200" dirty="0"/>
          </a:p>
        </p:txBody>
      </p:sp>
      <p:sp>
        <p:nvSpPr>
          <p:cNvPr id="24" name="Document e-sign frame"/>
          <p:cNvSpPr/>
          <p:nvPr/>
        </p:nvSpPr>
        <p:spPr>
          <a:xfrm>
            <a:off x="9005926" y="1234440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25" name="Document e-sign dot 1"/>
          <p:cNvSpPr/>
          <p:nvPr/>
        </p:nvSpPr>
        <p:spPr>
          <a:xfrm>
            <a:off x="9133942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Document e-sign dot 2"/>
          <p:cNvSpPr/>
          <p:nvPr/>
        </p:nvSpPr>
        <p:spPr>
          <a:xfrm>
            <a:off x="9289390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Document e-sign dot 3"/>
          <p:cNvSpPr/>
          <p:nvPr/>
        </p:nvSpPr>
        <p:spPr>
          <a:xfrm>
            <a:off x="9444838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28" name="Document e-sign screenshot" descr="Document e-sign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502" y="1472184"/>
            <a:ext cx="2532888" cy="15058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05926" y="310600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Document e-sign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005926" y="338032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Signed consents with audit trail</a:t>
            </a:r>
            <a:endParaRPr lang="en-US" sz="1200" dirty="0"/>
          </a:p>
        </p:txBody>
      </p:sp>
      <p:sp>
        <p:nvSpPr>
          <p:cNvPr id="31" name="Hostel frame"/>
          <p:cNvSpPr/>
          <p:nvPr/>
        </p:nvSpPr>
        <p:spPr>
          <a:xfrm>
            <a:off x="548640" y="3813048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32" name="Hostel dot 1"/>
          <p:cNvSpPr/>
          <p:nvPr/>
        </p:nvSpPr>
        <p:spPr>
          <a:xfrm>
            <a:off x="676656" y="388620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3" name="Hostel dot 2"/>
          <p:cNvSpPr/>
          <p:nvPr/>
        </p:nvSpPr>
        <p:spPr>
          <a:xfrm>
            <a:off x="832104" y="388620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4" name="Hostel dot 3"/>
          <p:cNvSpPr/>
          <p:nvPr/>
        </p:nvSpPr>
        <p:spPr>
          <a:xfrm>
            <a:off x="987552" y="388620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35" name="Hostel screenshot" descr="Hostel screens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050792"/>
            <a:ext cx="2532888" cy="150580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48640" y="568461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Hostel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595893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Rooms, occupancy and allocation</a:t>
            </a:r>
            <a:endParaRPr lang="en-US" sz="1200" dirty="0"/>
          </a:p>
        </p:txBody>
      </p:sp>
      <p:sp>
        <p:nvSpPr>
          <p:cNvPr id="38" name="Aviation library frame"/>
          <p:cNvSpPr/>
          <p:nvPr/>
        </p:nvSpPr>
        <p:spPr>
          <a:xfrm>
            <a:off x="3367735" y="3813048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39" name="Aviation library dot 1"/>
          <p:cNvSpPr/>
          <p:nvPr/>
        </p:nvSpPr>
        <p:spPr>
          <a:xfrm>
            <a:off x="3495751" y="388620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0" name="Aviation library dot 2"/>
          <p:cNvSpPr/>
          <p:nvPr/>
        </p:nvSpPr>
        <p:spPr>
          <a:xfrm>
            <a:off x="3651199" y="388620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1" name="Aviation library dot 3"/>
          <p:cNvSpPr/>
          <p:nvPr/>
        </p:nvSpPr>
        <p:spPr>
          <a:xfrm>
            <a:off x="3806647" y="388620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42" name="Aviation library screenshot" descr="Aviation library screensh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4311" y="4050792"/>
            <a:ext cx="2532888" cy="15058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3367735" y="568461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Aviation library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3367735" y="595893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Book catalogue, issues and returns</a:t>
            </a:r>
            <a:endParaRPr lang="en-US" sz="1200" dirty="0"/>
          </a:p>
        </p:txBody>
      </p:sp>
      <p:sp>
        <p:nvSpPr>
          <p:cNvPr id="45" name="Alumni &amp; placement frame"/>
          <p:cNvSpPr/>
          <p:nvPr/>
        </p:nvSpPr>
        <p:spPr>
          <a:xfrm>
            <a:off x="6186830" y="3813048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6" name="Alumni &amp; placement dot 1"/>
          <p:cNvSpPr/>
          <p:nvPr/>
        </p:nvSpPr>
        <p:spPr>
          <a:xfrm>
            <a:off x="6314846" y="388620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7" name="Alumni &amp; placement dot 2"/>
          <p:cNvSpPr/>
          <p:nvPr/>
        </p:nvSpPr>
        <p:spPr>
          <a:xfrm>
            <a:off x="6470294" y="388620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8" name="Alumni &amp; placement dot 3"/>
          <p:cNvSpPr/>
          <p:nvPr/>
        </p:nvSpPr>
        <p:spPr>
          <a:xfrm>
            <a:off x="6625742" y="388620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49" name="Alumni &amp; placement screenshot" descr="Alumni &amp; placement screensh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406" y="4050792"/>
            <a:ext cx="2532888" cy="150580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186830" y="568461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Alumni &amp; placement</a:t>
            </a:r>
            <a:endParaRPr lang="en-US" sz="1500" dirty="0"/>
          </a:p>
        </p:txBody>
      </p:sp>
      <p:sp>
        <p:nvSpPr>
          <p:cNvPr id="51" name="Text 42"/>
          <p:cNvSpPr txBox="1"/>
          <p:nvPr/>
        </p:nvSpPr>
        <p:spPr>
          <a:xfrm>
            <a:off x="6186830" y="595893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Airline placements and referrals</a:t>
            </a:r>
            <a:endParaRPr lang="en-US" sz="1200" dirty="0"/>
          </a:p>
        </p:txBody>
      </p:sp>
      <p:sp>
        <p:nvSpPr>
          <p:cNvPr id="52" name="Institute settings frame"/>
          <p:cNvSpPr/>
          <p:nvPr/>
        </p:nvSpPr>
        <p:spPr>
          <a:xfrm>
            <a:off x="9005926" y="3813048"/>
            <a:ext cx="2606040" cy="1780122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53" name="Institute settings dot 1"/>
          <p:cNvSpPr/>
          <p:nvPr/>
        </p:nvSpPr>
        <p:spPr>
          <a:xfrm>
            <a:off x="9133942" y="388620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4" name="Institute settings dot 2"/>
          <p:cNvSpPr/>
          <p:nvPr/>
        </p:nvSpPr>
        <p:spPr>
          <a:xfrm>
            <a:off x="9289390" y="388620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5" name="Institute settings dot 3"/>
          <p:cNvSpPr/>
          <p:nvPr/>
        </p:nvSpPr>
        <p:spPr>
          <a:xfrm>
            <a:off x="9444838" y="388620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56" name="Institute settings screenshot" descr="Institute settings screensh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2502" y="4050792"/>
            <a:ext cx="2532888" cy="15058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005926" y="568461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Institute settings</a:t>
            </a:r>
            <a:endParaRPr lang="en-US" sz="1500" dirty="0"/>
          </a:p>
        </p:txBody>
      </p:sp>
      <p:sp>
        <p:nvSpPr>
          <p:cNvPr id="58" name="Text 48"/>
          <p:cNvSpPr txBox="1"/>
          <p:nvPr/>
        </p:nvSpPr>
        <p:spPr>
          <a:xfrm>
            <a:off x="9005926" y="595893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Subjects, venues, fee heads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4008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portal for every person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DD3FC"/>
                </a:solidFill>
              </a:rPr>
              <a:t>Staff · Instructors · Students · Parents — each sees only their own work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Staff portal: daily office work in one place</a:t>
            </a:r>
            <a:endParaRPr lang="en-US" sz="3200" dirty="0"/>
          </a:p>
        </p:txBody>
      </p:sp>
      <p:sp>
        <p:nvSpPr>
          <p:cNvPr id="3" name="Staff dashboard frame"/>
          <p:cNvSpPr/>
          <p:nvPr/>
        </p:nvSpPr>
        <p:spPr>
          <a:xfrm>
            <a:off x="548640" y="1280160"/>
            <a:ext cx="5440680" cy="3465315"/>
          </a:xfrm>
          <a:prstGeom prst="roundRect">
            <a:avLst>
              <a:gd name="adj" fmla="val 21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Staff dashboard dot 1"/>
          <p:cNvSpPr/>
          <p:nvPr/>
        </p:nvSpPr>
        <p:spPr>
          <a:xfrm>
            <a:off x="676656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taff dashboard dot 2"/>
          <p:cNvSpPr/>
          <p:nvPr/>
        </p:nvSpPr>
        <p:spPr>
          <a:xfrm>
            <a:off x="832104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taff dashboard dot 3"/>
          <p:cNvSpPr/>
          <p:nvPr/>
        </p:nvSpPr>
        <p:spPr>
          <a:xfrm>
            <a:off x="987552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Staff dashboard screenshot" descr="Staff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7904"/>
            <a:ext cx="5367528" cy="3190995"/>
          </a:xfrm>
          <a:prstGeom prst="rect">
            <a:avLst/>
          </a:prstGeom>
        </p:spPr>
      </p:pic>
      <p:sp>
        <p:nvSpPr>
          <p:cNvPr id="8" name="Staff fee analytics frame"/>
          <p:cNvSpPr/>
          <p:nvPr/>
        </p:nvSpPr>
        <p:spPr>
          <a:xfrm>
            <a:off x="6473952" y="1280160"/>
            <a:ext cx="5440680" cy="3465315"/>
          </a:xfrm>
          <a:prstGeom prst="roundRect">
            <a:avLst>
              <a:gd name="adj" fmla="val 21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9" name="Staff fee analytics dot 1"/>
          <p:cNvSpPr/>
          <p:nvPr/>
        </p:nvSpPr>
        <p:spPr>
          <a:xfrm>
            <a:off x="6601968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taff fee analytics dot 2"/>
          <p:cNvSpPr/>
          <p:nvPr/>
        </p:nvSpPr>
        <p:spPr>
          <a:xfrm>
            <a:off x="6757416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taff fee analytics dot 3"/>
          <p:cNvSpPr/>
          <p:nvPr/>
        </p:nvSpPr>
        <p:spPr>
          <a:xfrm>
            <a:off x="6912864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12" name="Staff fee analytics screenshot" descr="Staff fee analytic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517904"/>
            <a:ext cx="5367528" cy="31909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5019795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Front-office tasks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367267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Mark attendance, post announcements, check facility availability and download forms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5019795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Fee collection view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473952" y="5367267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Expected vs collected, collection rate and each student's progress bar — no spreadsheet needed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Instructor portal: classes, roll call and reviews</a:t>
            </a:r>
            <a:endParaRPr lang="en-US" sz="3200" dirty="0"/>
          </a:p>
        </p:txBody>
      </p:sp>
      <p:sp>
        <p:nvSpPr>
          <p:cNvPr id="3" name="Instructor portal: classes, roll call and reviews frame"/>
          <p:cNvSpPr/>
          <p:nvPr/>
        </p:nvSpPr>
        <p:spPr>
          <a:xfrm>
            <a:off x="548640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Instructor portal: classes, roll call and reviews dot 1"/>
          <p:cNvSpPr/>
          <p:nvPr/>
        </p:nvSpPr>
        <p:spPr>
          <a:xfrm>
            <a:off x="676656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Instructor portal: classes, roll call and reviews dot 2"/>
          <p:cNvSpPr/>
          <p:nvPr/>
        </p:nvSpPr>
        <p:spPr>
          <a:xfrm>
            <a:off x="832104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Instructor portal: classes, roll call and reviews dot 3"/>
          <p:cNvSpPr/>
          <p:nvPr/>
        </p:nvSpPr>
        <p:spPr>
          <a:xfrm>
            <a:off x="987552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Instructor portal: classes, roll call and reviews screenshot" descr="Instructor portal: classes, roll call and review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7470648" cy="4441300"/>
          </a:xfrm>
          <a:prstGeom prst="rect">
            <a:avLst/>
          </a:prstGeom>
        </p:spPr>
      </p:pic>
      <p:sp>
        <p:nvSpPr>
          <p:cNvPr id="8" name="Today's sessions icon circle"/>
          <p:cNvSpPr/>
          <p:nvPr/>
        </p:nvSpPr>
        <p:spPr>
          <a:xfrm>
            <a:off x="850392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Today's sess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946330"/>
            <a:ext cx="237744" cy="237744"/>
          </a:xfrm>
          <a:prstGeom prst="rect">
            <a:avLst/>
          </a:prstGeom>
        </p:spPr>
      </p:pic>
      <p:sp>
        <p:nvSpPr>
          <p:cNvPr id="10" name="Today&amp;apos;s sessions heading"/>
          <p:cNvSpPr txBox="1"/>
          <p:nvPr/>
        </p:nvSpPr>
        <p:spPr>
          <a:xfrm>
            <a:off x="914400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Today's sessions</a:t>
            </a:r>
            <a:endParaRPr lang="en-US" sz="1700" dirty="0"/>
          </a:p>
        </p:txBody>
      </p:sp>
      <p:sp>
        <p:nvSpPr>
          <p:cNvPr id="11" name="Today&amp;apos;s sessions text"/>
          <p:cNvSpPr txBox="1"/>
          <p:nvPr/>
        </p:nvSpPr>
        <p:spPr>
          <a:xfrm>
            <a:off x="914400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Assigned ground classes and simulator slots with batch details</a:t>
            </a:r>
            <a:endParaRPr lang="en-US" sz="1400" dirty="0"/>
          </a:p>
        </p:txBody>
      </p:sp>
      <p:sp>
        <p:nvSpPr>
          <p:cNvPr id="12" name="Mark attendance icon circle"/>
          <p:cNvSpPr/>
          <p:nvPr/>
        </p:nvSpPr>
        <p:spPr>
          <a:xfrm>
            <a:off x="8503920" y="318991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Mark attendanc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299642"/>
            <a:ext cx="237744" cy="237744"/>
          </a:xfrm>
          <a:prstGeom prst="rect">
            <a:avLst/>
          </a:prstGeom>
        </p:spPr>
      </p:pic>
      <p:sp>
        <p:nvSpPr>
          <p:cNvPr id="14" name="Mark attendance heading"/>
          <p:cNvSpPr txBox="1"/>
          <p:nvPr/>
        </p:nvSpPr>
        <p:spPr>
          <a:xfrm>
            <a:off x="914400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Mark attendance</a:t>
            </a:r>
            <a:endParaRPr lang="en-US" sz="1700" dirty="0"/>
          </a:p>
        </p:txBody>
      </p:sp>
      <p:sp>
        <p:nvSpPr>
          <p:cNvPr id="15" name="Mark attendance text"/>
          <p:cNvSpPr txBox="1"/>
          <p:nvPr/>
        </p:nvSpPr>
        <p:spPr>
          <a:xfrm>
            <a:off x="914400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One click from each session card</a:t>
            </a:r>
            <a:endParaRPr lang="en-US" sz="1400" dirty="0"/>
          </a:p>
        </p:txBody>
      </p:sp>
      <p:sp>
        <p:nvSpPr>
          <p:cNvPr id="16" name="My ratings icon circle"/>
          <p:cNvSpPr/>
          <p:nvPr/>
        </p:nvSpPr>
        <p:spPr>
          <a:xfrm>
            <a:off x="8503920" y="454322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My rating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52954"/>
            <a:ext cx="237744" cy="237744"/>
          </a:xfrm>
          <a:prstGeom prst="rect">
            <a:avLst/>
          </a:prstGeom>
        </p:spPr>
      </p:pic>
      <p:sp>
        <p:nvSpPr>
          <p:cNvPr id="18" name="My ratings heading"/>
          <p:cNvSpPr txBox="1"/>
          <p:nvPr/>
        </p:nvSpPr>
        <p:spPr>
          <a:xfrm>
            <a:off x="914400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 ratings</a:t>
            </a:r>
            <a:endParaRPr lang="en-US" sz="1700" dirty="0"/>
          </a:p>
        </p:txBody>
      </p:sp>
      <p:sp>
        <p:nvSpPr>
          <p:cNvPr id="19" name="My ratings text"/>
          <p:cNvSpPr txBox="1"/>
          <p:nvPr/>
        </p:nvSpPr>
        <p:spPr>
          <a:xfrm>
            <a:off x="914400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Personal scorecard from student feedback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Student portal: everything a cadet needs</a:t>
            </a:r>
            <a:endParaRPr lang="en-US" sz="3200" dirty="0"/>
          </a:p>
        </p:txBody>
      </p:sp>
      <p:sp>
        <p:nvSpPr>
          <p:cNvPr id="3" name="Student portal: everything a cadet needs frame"/>
          <p:cNvSpPr/>
          <p:nvPr/>
        </p:nvSpPr>
        <p:spPr>
          <a:xfrm>
            <a:off x="548640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Student portal: everything a cadet needs dot 1"/>
          <p:cNvSpPr/>
          <p:nvPr/>
        </p:nvSpPr>
        <p:spPr>
          <a:xfrm>
            <a:off x="676656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tudent portal: everything a cadet needs dot 2"/>
          <p:cNvSpPr/>
          <p:nvPr/>
        </p:nvSpPr>
        <p:spPr>
          <a:xfrm>
            <a:off x="832104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tudent portal: everything a cadet needs dot 3"/>
          <p:cNvSpPr/>
          <p:nvPr/>
        </p:nvSpPr>
        <p:spPr>
          <a:xfrm>
            <a:off x="987552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Student portal: everything a cadet needs screenshot" descr="Student portal: everything a cadet need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7470648" cy="4441300"/>
          </a:xfrm>
          <a:prstGeom prst="rect">
            <a:avLst/>
          </a:prstGeom>
        </p:spPr>
      </p:pic>
      <p:sp>
        <p:nvSpPr>
          <p:cNvPr id="8" name="Classes &amp; attendance icon circle"/>
          <p:cNvSpPr/>
          <p:nvPr/>
        </p:nvSpPr>
        <p:spPr>
          <a:xfrm>
            <a:off x="8503920" y="183660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Classes &amp; attendanc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946330"/>
            <a:ext cx="237744" cy="237744"/>
          </a:xfrm>
          <a:prstGeom prst="rect">
            <a:avLst/>
          </a:prstGeom>
        </p:spPr>
      </p:pic>
      <p:sp>
        <p:nvSpPr>
          <p:cNvPr id="10" name="Classes &amp;amp; attendance heading"/>
          <p:cNvSpPr txBox="1"/>
          <p:nvPr/>
        </p:nvSpPr>
        <p:spPr>
          <a:xfrm>
            <a:off x="914400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Classes &amp; attendance</a:t>
            </a:r>
            <a:endParaRPr lang="en-US" sz="1700" dirty="0"/>
          </a:p>
        </p:txBody>
      </p:sp>
      <p:sp>
        <p:nvSpPr>
          <p:cNvPr id="11" name="Classes &amp;amp; attendance text"/>
          <p:cNvSpPr txBox="1"/>
          <p:nvPr/>
        </p:nvSpPr>
        <p:spPr>
          <a:xfrm>
            <a:off x="914400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Next classes and live attendance % against the DGCA 75% rule</a:t>
            </a:r>
            <a:endParaRPr lang="en-US" sz="1400" dirty="0"/>
          </a:p>
        </p:txBody>
      </p:sp>
      <p:sp>
        <p:nvSpPr>
          <p:cNvPr id="12" name="Fees &amp; study material icon circle"/>
          <p:cNvSpPr/>
          <p:nvPr/>
        </p:nvSpPr>
        <p:spPr>
          <a:xfrm>
            <a:off x="8503920" y="318991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Fees &amp; study materia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299642"/>
            <a:ext cx="237744" cy="237744"/>
          </a:xfrm>
          <a:prstGeom prst="rect">
            <a:avLst/>
          </a:prstGeom>
        </p:spPr>
      </p:pic>
      <p:sp>
        <p:nvSpPr>
          <p:cNvPr id="14" name="Fees &amp;amp; study material heading"/>
          <p:cNvSpPr txBox="1"/>
          <p:nvPr/>
        </p:nvSpPr>
        <p:spPr>
          <a:xfrm>
            <a:off x="914400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Fees &amp; study material</a:t>
            </a:r>
            <a:endParaRPr lang="en-US" sz="1700" dirty="0"/>
          </a:p>
        </p:txBody>
      </p:sp>
      <p:sp>
        <p:nvSpPr>
          <p:cNvPr id="15" name="Fees &amp;amp; study material text"/>
          <p:cNvSpPr txBox="1"/>
          <p:nvPr/>
        </p:nvSpPr>
        <p:spPr>
          <a:xfrm>
            <a:off x="914400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Pay dues online and download manuals and checklists</a:t>
            </a:r>
            <a:endParaRPr lang="en-US" sz="1400" dirty="0"/>
          </a:p>
        </p:txBody>
      </p:sp>
      <p:sp>
        <p:nvSpPr>
          <p:cNvPr id="16" name="Digital ID card icon circle"/>
          <p:cNvSpPr/>
          <p:nvPr/>
        </p:nvSpPr>
        <p:spPr>
          <a:xfrm>
            <a:off x="8503920" y="454322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Digital ID car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52954"/>
            <a:ext cx="237744" cy="237744"/>
          </a:xfrm>
          <a:prstGeom prst="rect">
            <a:avLst/>
          </a:prstGeom>
        </p:spPr>
      </p:pic>
      <p:sp>
        <p:nvSpPr>
          <p:cNvPr id="18" name="Digital ID card heading"/>
          <p:cNvSpPr txBox="1"/>
          <p:nvPr/>
        </p:nvSpPr>
        <p:spPr>
          <a:xfrm>
            <a:off x="914400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Digital ID card</a:t>
            </a:r>
            <a:endParaRPr lang="en-US" sz="1700" dirty="0"/>
          </a:p>
        </p:txBody>
      </p:sp>
      <p:sp>
        <p:nvSpPr>
          <p:cNvPr id="19" name="Digital ID card text"/>
          <p:cNvSpPr txBox="1"/>
          <p:nvPr/>
        </p:nvSpPr>
        <p:spPr>
          <a:xfrm>
            <a:off x="914400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Smart student badge with QR, always on the phone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Works on every phone, like an app</a:t>
            </a:r>
            <a:endParaRPr lang="en-US" sz="3200" dirty="0"/>
          </a:p>
        </p:txBody>
      </p:sp>
      <p:sp>
        <p:nvSpPr>
          <p:cNvPr id="3" name="Mobile dashboard phone"/>
          <p:cNvSpPr/>
          <p:nvPr/>
        </p:nvSpPr>
        <p:spPr>
          <a:xfrm>
            <a:off x="822960" y="1234440"/>
            <a:ext cx="2416430" cy="5029200"/>
          </a:xfrm>
          <a:prstGeom prst="roundRect">
            <a:avLst>
              <a:gd name="adj" fmla="val 113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30000"/>
              </a:srgbClr>
            </a:outerShdw>
          </a:effectLst>
        </p:spPr>
      </p:sp>
      <p:pic>
        <p:nvPicPr>
          <p:cNvPr id="4" name="Mobile dashboard screenshot" descr="Mobile dashboard mobil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371600"/>
            <a:ext cx="2196974" cy="4754880"/>
          </a:xfrm>
          <a:prstGeom prst="rect">
            <a:avLst/>
          </a:prstGeom>
        </p:spPr>
      </p:pic>
      <p:sp>
        <p:nvSpPr>
          <p:cNvPr id="5" name="Mobile timetable phone"/>
          <p:cNvSpPr/>
          <p:nvPr/>
        </p:nvSpPr>
        <p:spPr>
          <a:xfrm>
            <a:off x="3696590" y="1234440"/>
            <a:ext cx="2416430" cy="5029200"/>
          </a:xfrm>
          <a:prstGeom prst="roundRect">
            <a:avLst>
              <a:gd name="adj" fmla="val 113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77800" dist="63500" dir="5400000">
              <a:srgbClr val="0F172A">
                <a:alpha val="30000"/>
              </a:srgbClr>
            </a:outerShdw>
          </a:effectLst>
        </p:spPr>
      </p:sp>
      <p:pic>
        <p:nvPicPr>
          <p:cNvPr id="6" name="Mobile timetable screenshot" descr="Mobile timetable mobile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318" y="1371600"/>
            <a:ext cx="2196974" cy="4754880"/>
          </a:xfrm>
          <a:prstGeom prst="rect">
            <a:avLst/>
          </a:prstGeom>
        </p:spPr>
      </p:pic>
      <p:sp>
        <p:nvSpPr>
          <p:cNvPr id="7" name="Install to home screen icon circle"/>
          <p:cNvSpPr/>
          <p:nvPr/>
        </p:nvSpPr>
        <p:spPr>
          <a:xfrm>
            <a:off x="667512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nstall to home scree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709928"/>
            <a:ext cx="237744" cy="237744"/>
          </a:xfrm>
          <a:prstGeom prst="rect">
            <a:avLst/>
          </a:prstGeom>
        </p:spPr>
      </p:pic>
      <p:sp>
        <p:nvSpPr>
          <p:cNvPr id="9" name="Install to home screen heading"/>
          <p:cNvSpPr txBox="1"/>
          <p:nvPr/>
        </p:nvSpPr>
        <p:spPr>
          <a:xfrm>
            <a:off x="7315200" y="1581912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Install to home screen</a:t>
            </a:r>
            <a:endParaRPr lang="en-US" sz="1700" dirty="0"/>
          </a:p>
        </p:txBody>
      </p:sp>
      <p:sp>
        <p:nvSpPr>
          <p:cNvPr id="10" name="Install to home screen text"/>
          <p:cNvSpPr txBox="1"/>
          <p:nvPr/>
        </p:nvSpPr>
        <p:spPr>
          <a:xfrm>
            <a:off x="7315200" y="1947672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Students, parents and instructors open it like any other app — no app-store download</a:t>
            </a:r>
            <a:endParaRPr lang="en-US" sz="1400" dirty="0"/>
          </a:p>
        </p:txBody>
      </p:sp>
      <p:sp>
        <p:nvSpPr>
          <p:cNvPr id="11" name="Opens without internet icon circle"/>
          <p:cNvSpPr/>
          <p:nvPr/>
        </p:nvSpPr>
        <p:spPr>
          <a:xfrm>
            <a:off x="6675120" y="29535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Opens without interne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3063240"/>
            <a:ext cx="237744" cy="237744"/>
          </a:xfrm>
          <a:prstGeom prst="rect">
            <a:avLst/>
          </a:prstGeom>
        </p:spPr>
      </p:pic>
      <p:sp>
        <p:nvSpPr>
          <p:cNvPr id="13" name="Opens without internet heading"/>
          <p:cNvSpPr txBox="1"/>
          <p:nvPr/>
        </p:nvSpPr>
        <p:spPr>
          <a:xfrm>
            <a:off x="7315200" y="2935224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Opens without internet</a:t>
            </a:r>
            <a:endParaRPr lang="en-US" sz="1700" dirty="0"/>
          </a:p>
        </p:txBody>
      </p:sp>
      <p:sp>
        <p:nvSpPr>
          <p:cNvPr id="14" name="Opens without internet text"/>
          <p:cNvSpPr txBox="1"/>
          <p:nvPr/>
        </p:nvSpPr>
        <p:spPr>
          <a:xfrm>
            <a:off x="7315200" y="3300984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Recently viewed timetable and pages stay available offline</a:t>
            </a:r>
            <a:endParaRPr lang="en-US" sz="1400" dirty="0"/>
          </a:p>
        </p:txBody>
      </p:sp>
      <p:sp>
        <p:nvSpPr>
          <p:cNvPr id="15" name="Built for touch icon circle"/>
          <p:cNvSpPr/>
          <p:nvPr/>
        </p:nvSpPr>
        <p:spPr>
          <a:xfrm>
            <a:off x="6675120" y="430682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Built for touch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4416552"/>
            <a:ext cx="237744" cy="237744"/>
          </a:xfrm>
          <a:prstGeom prst="rect">
            <a:avLst/>
          </a:prstGeom>
        </p:spPr>
      </p:pic>
      <p:sp>
        <p:nvSpPr>
          <p:cNvPr id="17" name="Built for touch heading"/>
          <p:cNvSpPr txBox="1"/>
          <p:nvPr/>
        </p:nvSpPr>
        <p:spPr>
          <a:xfrm>
            <a:off x="7315200" y="4288536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Built for touch</a:t>
            </a:r>
            <a:endParaRPr lang="en-US" sz="1700" dirty="0"/>
          </a:p>
        </p:txBody>
      </p:sp>
      <p:sp>
        <p:nvSpPr>
          <p:cNvPr id="18" name="Built for touch text"/>
          <p:cNvSpPr txBox="1"/>
          <p:nvPr/>
        </p:nvSpPr>
        <p:spPr>
          <a:xfrm>
            <a:off x="7315200" y="4654296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Bottom navigation, large tap targets and swipe between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Parent portal: peace of mind for families</a:t>
            </a:r>
            <a:endParaRPr lang="en-US" sz="3200" dirty="0"/>
          </a:p>
        </p:txBody>
      </p:sp>
      <p:sp>
        <p:nvSpPr>
          <p:cNvPr id="3" name="Parent portal: peace of mind for families frame"/>
          <p:cNvSpPr/>
          <p:nvPr/>
        </p:nvSpPr>
        <p:spPr>
          <a:xfrm>
            <a:off x="4099255" y="1325880"/>
            <a:ext cx="7543800" cy="4715620"/>
          </a:xfrm>
          <a:prstGeom prst="roundRect">
            <a:avLst>
              <a:gd name="adj" fmla="val 155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4" name="Parent portal: peace of mind for families dot 1"/>
          <p:cNvSpPr/>
          <p:nvPr/>
        </p:nvSpPr>
        <p:spPr>
          <a:xfrm>
            <a:off x="4227271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Parent portal: peace of mind for families dot 2"/>
          <p:cNvSpPr/>
          <p:nvPr/>
        </p:nvSpPr>
        <p:spPr>
          <a:xfrm>
            <a:off x="4382719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Parent portal: peace of mind for families dot 3"/>
          <p:cNvSpPr/>
          <p:nvPr/>
        </p:nvSpPr>
        <p:spPr>
          <a:xfrm>
            <a:off x="4538167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7" name="Parent portal: peace of mind for families screenshot" descr="Parent portal: peace of mind for familie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5831" y="1563624"/>
            <a:ext cx="7470648" cy="4441300"/>
          </a:xfrm>
          <a:prstGeom prst="rect">
            <a:avLst/>
          </a:prstGeom>
        </p:spPr>
      </p:pic>
      <p:sp>
        <p:nvSpPr>
          <p:cNvPr id="8" name="Fee balance &amp; receipts icon circle"/>
          <p:cNvSpPr/>
          <p:nvPr/>
        </p:nvSpPr>
        <p:spPr>
          <a:xfrm>
            <a:off x="548640" y="183660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Fee balance &amp; receip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6330"/>
            <a:ext cx="237744" cy="237744"/>
          </a:xfrm>
          <a:prstGeom prst="rect">
            <a:avLst/>
          </a:prstGeom>
        </p:spPr>
      </p:pic>
      <p:sp>
        <p:nvSpPr>
          <p:cNvPr id="10" name="Fee balance &amp;amp; receipts heading"/>
          <p:cNvSpPr txBox="1"/>
          <p:nvPr/>
        </p:nvSpPr>
        <p:spPr>
          <a:xfrm>
            <a:off x="1188720" y="1818314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Fee balance &amp; receipts</a:t>
            </a:r>
            <a:endParaRPr lang="en-US" sz="1700" dirty="0"/>
          </a:p>
        </p:txBody>
      </p:sp>
      <p:sp>
        <p:nvSpPr>
          <p:cNvPr id="11" name="Fee balance &amp;amp; receipts text"/>
          <p:cNvSpPr txBox="1"/>
          <p:nvPr/>
        </p:nvSpPr>
        <p:spPr>
          <a:xfrm>
            <a:off x="1188720" y="218407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Outstanding dues with Razorpay or UPI QR payment</a:t>
            </a:r>
            <a:endParaRPr lang="en-US" sz="1400" dirty="0"/>
          </a:p>
        </p:txBody>
      </p:sp>
      <p:sp>
        <p:nvSpPr>
          <p:cNvPr id="12" name="Attendance &amp; schedule icon circle"/>
          <p:cNvSpPr/>
          <p:nvPr/>
        </p:nvSpPr>
        <p:spPr>
          <a:xfrm>
            <a:off x="548640" y="318991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ttendance &amp; schedul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99642"/>
            <a:ext cx="237744" cy="237744"/>
          </a:xfrm>
          <a:prstGeom prst="rect">
            <a:avLst/>
          </a:prstGeom>
        </p:spPr>
      </p:pic>
      <p:sp>
        <p:nvSpPr>
          <p:cNvPr id="14" name="Attendance &amp;amp; schedule heading"/>
          <p:cNvSpPr txBox="1"/>
          <p:nvPr/>
        </p:nvSpPr>
        <p:spPr>
          <a:xfrm>
            <a:off x="1188720" y="3171626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Attendance &amp; schedule</a:t>
            </a:r>
            <a:endParaRPr lang="en-US" sz="1700" dirty="0"/>
          </a:p>
        </p:txBody>
      </p:sp>
      <p:sp>
        <p:nvSpPr>
          <p:cNvPr id="15" name="Attendance &amp;amp; schedule text"/>
          <p:cNvSpPr txBox="1"/>
          <p:nvPr/>
        </p:nvSpPr>
        <p:spPr>
          <a:xfrm>
            <a:off x="1188720" y="3537386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Daily attendance and the weekly class plan</a:t>
            </a:r>
            <a:endParaRPr lang="en-US" sz="1400" dirty="0"/>
          </a:p>
        </p:txBody>
      </p:sp>
      <p:sp>
        <p:nvSpPr>
          <p:cNvPr id="16" name="Progress updates icon circle"/>
          <p:cNvSpPr/>
          <p:nvPr/>
        </p:nvSpPr>
        <p:spPr>
          <a:xfrm>
            <a:off x="548640" y="454322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Progress updat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52954"/>
            <a:ext cx="237744" cy="237744"/>
          </a:xfrm>
          <a:prstGeom prst="rect">
            <a:avLst/>
          </a:prstGeom>
        </p:spPr>
      </p:pic>
      <p:sp>
        <p:nvSpPr>
          <p:cNvPr id="18" name="Progress updates heading"/>
          <p:cNvSpPr txBox="1"/>
          <p:nvPr/>
        </p:nvSpPr>
        <p:spPr>
          <a:xfrm>
            <a:off x="1188720" y="4524938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Progress updates</a:t>
            </a:r>
            <a:endParaRPr lang="en-US" sz="1700" dirty="0"/>
          </a:p>
        </p:txBody>
      </p:sp>
      <p:sp>
        <p:nvSpPr>
          <p:cNvPr id="19" name="Progress updates text"/>
          <p:cNvSpPr txBox="1"/>
          <p:nvPr/>
        </p:nvSpPr>
        <p:spPr>
          <a:xfrm>
            <a:off x="1188720" y="489069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Ground exam scores and simulator milestones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rollout</a:t>
            </a:r>
            <a:endParaRPr lang="en-US" sz="3200" dirty="0"/>
          </a:p>
        </p:txBody>
      </p:sp>
      <p:sp>
        <p:nvSpPr>
          <p:cNvPr id="3" name="Phase 1 card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hase 1 badg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Core office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Admissions, students, fees and attendance; staff portal live</a:t>
            </a:r>
            <a:endParaRPr lang="en-US" sz="1500" dirty="0"/>
          </a:p>
        </p:txBody>
      </p:sp>
      <p:sp>
        <p:nvSpPr>
          <p:cNvPr id="8" name="Phase 2 card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hase 2 badge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Academics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Timetable, instructor, student and parent portals; LMS</a:t>
            </a:r>
            <a:endParaRPr lang="en-US" sz="1500" dirty="0"/>
          </a:p>
        </p:txBody>
      </p:sp>
      <p:sp>
        <p:nvSpPr>
          <p:cNvPr id="13" name="Phase 3 card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hase 3 badge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Operations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Finance, HR &amp; payroll, fleet compliance, gate and campus services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we need from the institute to go live</a:t>
            </a:r>
            <a:endParaRPr lang="en-US" sz="1800" dirty="0"/>
          </a:p>
        </p:txBody>
      </p:sp>
      <p:sp>
        <p:nvSpPr>
          <p:cNvPr id="19" name="Cloud hosting &amp; database icon circle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Cloud hosting &amp; databa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4875581"/>
            <a:ext cx="261518" cy="26151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88720" y="4709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 hosting &amp; database</a:t>
            </a:r>
            <a:endParaRPr lang="en-US" sz="1400" dirty="0"/>
          </a:p>
        </p:txBody>
      </p:sp>
      <p:sp>
        <p:nvSpPr>
          <p:cNvPr id="22" name="Razorpay merchant account icon circle"/>
          <p:cNvSpPr/>
          <p:nvPr/>
        </p:nvSpPr>
        <p:spPr>
          <a:xfrm>
            <a:off x="2807208" y="4754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Razorpay merchant accoun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909" y="4875581"/>
            <a:ext cx="261518" cy="26151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447288" y="4709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Razorpay merchant account</a:t>
            </a:r>
            <a:endParaRPr lang="en-US" sz="1400" dirty="0"/>
          </a:p>
        </p:txBody>
      </p:sp>
      <p:sp>
        <p:nvSpPr>
          <p:cNvPr id="25" name="SMS / email provider icon circle"/>
          <p:cNvSpPr/>
          <p:nvPr/>
        </p:nvSpPr>
        <p:spPr>
          <a:xfrm>
            <a:off x="5065776" y="4754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SMS / email provid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4875581"/>
            <a:ext cx="261518" cy="26151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705856" y="4709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SMS / email provider</a:t>
            </a:r>
            <a:endParaRPr lang="en-US" sz="1400" dirty="0"/>
          </a:p>
        </p:txBody>
      </p:sp>
      <p:sp>
        <p:nvSpPr>
          <p:cNvPr id="28" name="Existing student &amp; fee data icon circle"/>
          <p:cNvSpPr/>
          <p:nvPr/>
        </p:nvSpPr>
        <p:spPr>
          <a:xfrm>
            <a:off x="7324344" y="4754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Existing student &amp; fee data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045" y="4875581"/>
            <a:ext cx="261518" cy="26151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964424" y="4709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Existing student &amp; fee data</a:t>
            </a:r>
            <a:endParaRPr lang="en-US" sz="1400" dirty="0"/>
          </a:p>
        </p:txBody>
      </p:sp>
      <p:sp>
        <p:nvSpPr>
          <p:cNvPr id="31" name="Role-wise staff training icon circle"/>
          <p:cNvSpPr/>
          <p:nvPr/>
        </p:nvSpPr>
        <p:spPr>
          <a:xfrm>
            <a:off x="9582912" y="4754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Role-wise staff train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3" y="4875581"/>
            <a:ext cx="261518" cy="26151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222992" y="47091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Role-wise staff training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Questions, and a live demo of any module you'd like to see</a:t>
            </a:r>
            <a:endParaRPr lang="en-US" sz="1800" dirty="0"/>
          </a:p>
        </p:txBody>
      </p:sp>
      <p:sp>
        <p:nvSpPr>
          <p:cNvPr id="4" name="Main dashboard frame"/>
          <p:cNvSpPr/>
          <p:nvPr/>
        </p:nvSpPr>
        <p:spPr>
          <a:xfrm>
            <a:off x="6629400" y="1417320"/>
            <a:ext cx="5029200" cy="3371850"/>
          </a:xfrm>
          <a:prstGeom prst="roundRect">
            <a:avLst>
              <a:gd name="adj" fmla="val 216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25000"/>
              </a:srgbClr>
            </a:outerShdw>
          </a:effectLst>
        </p:spPr>
      </p:sp>
      <p:sp>
        <p:nvSpPr>
          <p:cNvPr id="5" name="Main dashboard dot 1"/>
          <p:cNvSpPr/>
          <p:nvPr/>
        </p:nvSpPr>
        <p:spPr>
          <a:xfrm>
            <a:off x="6757416" y="149047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Main dashboard dot 2"/>
          <p:cNvSpPr/>
          <p:nvPr/>
        </p:nvSpPr>
        <p:spPr>
          <a:xfrm>
            <a:off x="6912864" y="149047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Main dashboard dot 3"/>
          <p:cNvSpPr/>
          <p:nvPr/>
        </p:nvSpPr>
        <p:spPr>
          <a:xfrm>
            <a:off x="7068312" y="149047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8" name="Main dashboard screenshot" descr="Main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976" y="1655064"/>
            <a:ext cx="4956048" cy="3097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RIK Aviation">
  <a:themeElements>
    <a:clrScheme name="IRIK Aviation">
      <a:dk1>
        <a:srgbClr val="0F172A"/>
      </a:dk1>
      <a:lt1>
        <a:srgbClr val="FFFFFF"/>
      </a:lt1>
      <a:dk2>
        <a:srgbClr val="1E1B4B"/>
      </a:dk2>
      <a:lt2>
        <a:srgbClr val="F1F5F9"/>
      </a:lt2>
      <a:accent1>
        <a:srgbClr val="2563EB"/>
      </a:accent1>
      <a:accent2>
        <a:srgbClr val="0EA5E9"/>
      </a:accent2>
      <a:accent3>
        <a:srgbClr val="F59E0B"/>
      </a:accent3>
      <a:accent4>
        <a:srgbClr val="10B981"/>
      </a:accent4>
      <a:accent5>
        <a:srgbClr val="7C3AED"/>
      </a:accent5>
      <a:accent6>
        <a:srgbClr val="EF4444"/>
      </a:accent6>
      <a:hlink>
        <a:srgbClr val="2563EB"/>
      </a:hlink>
      <a:folHlink>
        <a:srgbClr val="7C3AED"/>
      </a:folHlink>
    </a:clrScheme>
    <a:fontScheme name="IRIK Avi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IRIK Aviation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IRIK Aviation ERP — Product Showcase</dc:title>
  <dc:subject>PptxGenJS Presentation</dc:subject>
  <dc:creator>IRIK ERP Team</dc:creator>
  <cp:lastModifiedBy>IRIK ERP Team</cp:lastModifiedBy>
  <cp:revision>1</cp:revision>
  <dcterms:created xsi:type="dcterms:W3CDTF">2026-10-30T04:43:41Z</dcterms:created>
  <dcterms:modified xsi:type="dcterms:W3CDTF">2026-10-30T04:43:41Z</dcterms:modified>
</cp:coreProperties>
</file>